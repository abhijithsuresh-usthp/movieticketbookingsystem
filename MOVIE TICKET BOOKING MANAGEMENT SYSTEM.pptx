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9" r:id="rId3"/>
    <p:sldId id="257" r:id="rId4"/>
    <p:sldId id="258" r:id="rId5"/>
    <p:sldId id="270" r:id="rId6"/>
    <p:sldId id="260" r:id="rId7"/>
    <p:sldId id="271" r:id="rId8"/>
    <p:sldId id="272" r:id="rId9"/>
    <p:sldId id="269" r:id="rId10"/>
    <p:sldId id="262" r:id="rId11"/>
    <p:sldId id="263" r:id="rId12"/>
    <p:sldId id="264" r:id="rId13"/>
    <p:sldId id="268" r:id="rId14"/>
    <p:sldId id="274" r:id="rId15"/>
    <p:sldId id="275" r:id="rId16"/>
    <p:sldId id="276" r:id="rId17"/>
    <p:sldId id="277" r:id="rId18"/>
    <p:sldId id="278" r:id="rId19"/>
    <p:sldId id="279" r:id="rId20"/>
    <p:sldId id="280" r:id="rId21"/>
    <p:sldId id="281" r:id="rId22"/>
    <p:sldId id="282" r:id="rId23"/>
    <p:sldId id="283" r:id="rId24"/>
    <p:sldId id="284" r:id="rId25"/>
    <p:sldId id="273" r:id="rId26"/>
    <p:sldId id="266" r:id="rId27"/>
    <p:sldId id="267"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BF4B39F-4966-42AC-851A-6781C4DC23D1}" type="datetimeFigureOut">
              <a:rPr lang="en-IN" smtClean="0"/>
              <a:t>07-11-2025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8C52938-43EC-4FEE-91E0-B7C2F77E2624}" type="slidenum">
              <a:rPr lang="en-IN" smtClean="0"/>
              <a:t>‹#›</a:t>
            </a:fld>
            <a:endParaRPr lang="en-IN"/>
          </a:p>
        </p:txBody>
      </p:sp>
    </p:spTree>
    <p:extLst>
      <p:ext uri="{BB962C8B-B14F-4D97-AF65-F5344CB8AC3E}">
        <p14:creationId xmlns:p14="http://schemas.microsoft.com/office/powerpoint/2010/main" val="3116732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F4B39F-4966-42AC-851A-6781C4DC23D1}" type="datetimeFigureOut">
              <a:rPr lang="en-IN" smtClean="0"/>
              <a:t>07-11-2025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8C52938-43EC-4FEE-91E0-B7C2F77E2624}" type="slidenum">
              <a:rPr lang="en-IN" smtClean="0"/>
              <a:t>‹#›</a:t>
            </a:fld>
            <a:endParaRPr lang="en-IN"/>
          </a:p>
        </p:txBody>
      </p:sp>
    </p:spTree>
    <p:extLst>
      <p:ext uri="{BB962C8B-B14F-4D97-AF65-F5344CB8AC3E}">
        <p14:creationId xmlns:p14="http://schemas.microsoft.com/office/powerpoint/2010/main" val="1328338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BF4B39F-4966-42AC-851A-6781C4DC23D1}" type="datetimeFigureOut">
              <a:rPr lang="en-IN" smtClean="0"/>
              <a:t>07-11-2025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8C52938-43EC-4FEE-91E0-B7C2F77E2624}" type="slidenum">
              <a:rPr lang="en-IN" smtClean="0"/>
              <a:t>‹#›</a:t>
            </a:fld>
            <a:endParaRPr lang="en-IN"/>
          </a:p>
        </p:txBody>
      </p:sp>
    </p:spTree>
    <p:extLst>
      <p:ext uri="{BB962C8B-B14F-4D97-AF65-F5344CB8AC3E}">
        <p14:creationId xmlns:p14="http://schemas.microsoft.com/office/powerpoint/2010/main" val="18537197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BF4B39F-4966-42AC-851A-6781C4DC23D1}" type="datetimeFigureOut">
              <a:rPr lang="en-IN" smtClean="0"/>
              <a:t>07-11-2025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8C52938-43EC-4FEE-91E0-B7C2F77E2624}" type="slidenum">
              <a:rPr lang="en-IN" smtClean="0"/>
              <a:t>‹#›</a:t>
            </a:fld>
            <a:endParaRPr lang="en-IN"/>
          </a:p>
        </p:txBody>
      </p:sp>
    </p:spTree>
    <p:extLst>
      <p:ext uri="{BB962C8B-B14F-4D97-AF65-F5344CB8AC3E}">
        <p14:creationId xmlns:p14="http://schemas.microsoft.com/office/powerpoint/2010/main" val="1483585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BF4B39F-4966-42AC-851A-6781C4DC23D1}" type="datetimeFigureOut">
              <a:rPr lang="en-IN" smtClean="0"/>
              <a:t>07-11-2025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8C52938-43EC-4FEE-91E0-B7C2F77E2624}" type="slidenum">
              <a:rPr lang="en-IN" smtClean="0"/>
              <a:t>‹#›</a:t>
            </a:fld>
            <a:endParaRPr lang="en-IN"/>
          </a:p>
        </p:txBody>
      </p:sp>
    </p:spTree>
    <p:extLst>
      <p:ext uri="{BB962C8B-B14F-4D97-AF65-F5344CB8AC3E}">
        <p14:creationId xmlns:p14="http://schemas.microsoft.com/office/powerpoint/2010/main" val="3293853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BF4B39F-4966-42AC-851A-6781C4DC23D1}" type="datetimeFigureOut">
              <a:rPr lang="en-IN" smtClean="0"/>
              <a:t>07-11-2025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8C52938-43EC-4FEE-91E0-B7C2F77E2624}" type="slidenum">
              <a:rPr lang="en-IN" smtClean="0"/>
              <a:t>‹#›</a:t>
            </a:fld>
            <a:endParaRPr lang="en-IN"/>
          </a:p>
        </p:txBody>
      </p:sp>
    </p:spTree>
    <p:extLst>
      <p:ext uri="{BB962C8B-B14F-4D97-AF65-F5344CB8AC3E}">
        <p14:creationId xmlns:p14="http://schemas.microsoft.com/office/powerpoint/2010/main" val="225355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F4B39F-4966-42AC-851A-6781C4DC23D1}" type="datetimeFigureOut">
              <a:rPr lang="en-IN" smtClean="0"/>
              <a:t>07-11-2025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8C52938-43EC-4FEE-91E0-B7C2F77E2624}" type="slidenum">
              <a:rPr lang="en-IN" smtClean="0"/>
              <a:t>‹#›</a:t>
            </a:fld>
            <a:endParaRPr lang="en-IN"/>
          </a:p>
        </p:txBody>
      </p:sp>
    </p:spTree>
    <p:extLst>
      <p:ext uri="{BB962C8B-B14F-4D97-AF65-F5344CB8AC3E}">
        <p14:creationId xmlns:p14="http://schemas.microsoft.com/office/powerpoint/2010/main" val="300324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BF4B39F-4966-42AC-851A-6781C4DC23D1}" type="datetimeFigureOut">
              <a:rPr lang="en-IN" smtClean="0"/>
              <a:t>07-11-2025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8C52938-43EC-4FEE-91E0-B7C2F77E2624}" type="slidenum">
              <a:rPr lang="en-IN" smtClean="0"/>
              <a:t>‹#›</a:t>
            </a:fld>
            <a:endParaRPr lang="en-IN"/>
          </a:p>
        </p:txBody>
      </p:sp>
    </p:spTree>
    <p:extLst>
      <p:ext uri="{BB962C8B-B14F-4D97-AF65-F5344CB8AC3E}">
        <p14:creationId xmlns:p14="http://schemas.microsoft.com/office/powerpoint/2010/main" val="2208857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BF4B39F-4966-42AC-851A-6781C4DC23D1}" type="datetimeFigureOut">
              <a:rPr lang="en-IN" smtClean="0"/>
              <a:t>07-11-2025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8C52938-43EC-4FEE-91E0-B7C2F77E2624}" type="slidenum">
              <a:rPr lang="en-IN" smtClean="0"/>
              <a:t>‹#›</a:t>
            </a:fld>
            <a:endParaRPr lang="en-IN"/>
          </a:p>
        </p:txBody>
      </p:sp>
    </p:spTree>
    <p:extLst>
      <p:ext uri="{BB962C8B-B14F-4D97-AF65-F5344CB8AC3E}">
        <p14:creationId xmlns:p14="http://schemas.microsoft.com/office/powerpoint/2010/main" val="9098912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F4B39F-4966-42AC-851A-6781C4DC23D1}" type="datetimeFigureOut">
              <a:rPr lang="en-IN" smtClean="0"/>
              <a:t>07-11-2025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8C52938-43EC-4FEE-91E0-B7C2F77E2624}" type="slidenum">
              <a:rPr lang="en-IN" smtClean="0"/>
              <a:t>‹#›</a:t>
            </a:fld>
            <a:endParaRPr lang="en-IN"/>
          </a:p>
        </p:txBody>
      </p:sp>
    </p:spTree>
    <p:extLst>
      <p:ext uri="{BB962C8B-B14F-4D97-AF65-F5344CB8AC3E}">
        <p14:creationId xmlns:p14="http://schemas.microsoft.com/office/powerpoint/2010/main" val="451015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F4B39F-4966-42AC-851A-6781C4DC23D1}" type="datetimeFigureOut">
              <a:rPr lang="en-IN" smtClean="0"/>
              <a:t>07-11-2025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8C52938-43EC-4FEE-91E0-B7C2F77E2624}" type="slidenum">
              <a:rPr lang="en-IN" smtClean="0"/>
              <a:t>‹#›</a:t>
            </a:fld>
            <a:endParaRPr lang="en-IN"/>
          </a:p>
        </p:txBody>
      </p:sp>
    </p:spTree>
    <p:extLst>
      <p:ext uri="{BB962C8B-B14F-4D97-AF65-F5344CB8AC3E}">
        <p14:creationId xmlns:p14="http://schemas.microsoft.com/office/powerpoint/2010/main" val="5603201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F4B39F-4966-42AC-851A-6781C4DC23D1}" type="datetimeFigureOut">
              <a:rPr lang="en-IN" smtClean="0"/>
              <a:t>07-11-2025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C52938-43EC-4FEE-91E0-B7C2F77E2624}" type="slidenum">
              <a:rPr lang="en-IN" smtClean="0"/>
              <a:t>‹#›</a:t>
            </a:fld>
            <a:endParaRPr lang="en-IN"/>
          </a:p>
        </p:txBody>
      </p:sp>
    </p:spTree>
    <p:extLst>
      <p:ext uri="{BB962C8B-B14F-4D97-AF65-F5344CB8AC3E}">
        <p14:creationId xmlns:p14="http://schemas.microsoft.com/office/powerpoint/2010/main" val="2980699957"/>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54653-EA93-B1DF-C517-E32FDFC80357}"/>
              </a:ext>
            </a:extLst>
          </p:cNvPr>
          <p:cNvSpPr>
            <a:spLocks noGrp="1"/>
          </p:cNvSpPr>
          <p:nvPr>
            <p:ph type="ctrTitle"/>
          </p:nvPr>
        </p:nvSpPr>
        <p:spPr>
          <a:xfrm>
            <a:off x="2030225" y="1647151"/>
            <a:ext cx="8131550" cy="2262781"/>
          </a:xfrm>
        </p:spPr>
        <p:txBody>
          <a:bodyPr>
            <a:normAutofit/>
          </a:bodyPr>
          <a:lstStyle/>
          <a:p>
            <a:r>
              <a:rPr lang="en-IN" dirty="0"/>
              <a:t>MOVIE TICKET BOOKING MANAGEMENT SYSTEM</a:t>
            </a:r>
          </a:p>
        </p:txBody>
      </p:sp>
      <p:sp>
        <p:nvSpPr>
          <p:cNvPr id="7" name="TextBox 6">
            <a:extLst>
              <a:ext uri="{FF2B5EF4-FFF2-40B4-BE49-F238E27FC236}">
                <a16:creationId xmlns:a16="http://schemas.microsoft.com/office/drawing/2014/main" id="{E00B45BD-B7A4-AB24-BAE1-4106560FA39B}"/>
              </a:ext>
            </a:extLst>
          </p:cNvPr>
          <p:cNvSpPr txBox="1"/>
          <p:nvPr/>
        </p:nvSpPr>
        <p:spPr>
          <a:xfrm>
            <a:off x="7512806" y="4396354"/>
            <a:ext cx="2893066" cy="2031325"/>
          </a:xfrm>
          <a:prstGeom prst="rect">
            <a:avLst/>
          </a:prstGeom>
          <a:noFill/>
        </p:spPr>
        <p:txBody>
          <a:bodyPr wrap="square" rtlCol="0">
            <a:spAutoFit/>
          </a:bodyPr>
          <a:lstStyle/>
          <a:p>
            <a:r>
              <a:rPr lang="en-IN" dirty="0"/>
              <a:t>Team members:-</a:t>
            </a:r>
          </a:p>
          <a:p>
            <a:r>
              <a:rPr lang="en-IN" dirty="0"/>
              <a:t>Abhijith Suresh (Team Lead)</a:t>
            </a:r>
            <a:br>
              <a:rPr lang="en-IN" dirty="0"/>
            </a:br>
            <a:r>
              <a:rPr lang="en-IN" dirty="0"/>
              <a:t>Dona Binu</a:t>
            </a:r>
          </a:p>
          <a:p>
            <a:r>
              <a:rPr lang="en-IN" dirty="0"/>
              <a:t>Daniel </a:t>
            </a:r>
            <a:r>
              <a:rPr lang="en-IN" dirty="0" err="1"/>
              <a:t>Pavun</a:t>
            </a:r>
            <a:r>
              <a:rPr lang="en-IN" dirty="0"/>
              <a:t> Raj R</a:t>
            </a:r>
            <a:br>
              <a:rPr lang="en-IN" dirty="0"/>
            </a:br>
            <a:r>
              <a:rPr lang="en-IN" dirty="0"/>
              <a:t>Sabari Sundar A R</a:t>
            </a:r>
          </a:p>
          <a:p>
            <a:r>
              <a:rPr lang="en-IN" dirty="0" err="1"/>
              <a:t>Sudharsen</a:t>
            </a:r>
            <a:r>
              <a:rPr lang="en-IN" dirty="0"/>
              <a:t> R J</a:t>
            </a:r>
          </a:p>
          <a:p>
            <a:endParaRPr lang="en-IN" dirty="0"/>
          </a:p>
        </p:txBody>
      </p:sp>
    </p:spTree>
    <p:extLst>
      <p:ext uri="{BB962C8B-B14F-4D97-AF65-F5344CB8AC3E}">
        <p14:creationId xmlns:p14="http://schemas.microsoft.com/office/powerpoint/2010/main" val="4262880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96B5334F-E8DA-5818-41C0-E21F34ED301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34160FA-46EA-D151-06C7-812308F61BA1}"/>
              </a:ext>
            </a:extLst>
          </p:cNvPr>
          <p:cNvSpPr>
            <a:spLocks noGrp="1"/>
          </p:cNvSpPr>
          <p:nvPr>
            <p:ph type="ctrTitle"/>
          </p:nvPr>
        </p:nvSpPr>
        <p:spPr>
          <a:xfrm>
            <a:off x="1524000" y="287382"/>
            <a:ext cx="9144000" cy="930049"/>
          </a:xfrm>
        </p:spPr>
        <p:txBody>
          <a:bodyPr>
            <a:normAutofit/>
          </a:bodyPr>
          <a:lstStyle/>
          <a:p>
            <a:r>
              <a:rPr lang="en-IN" sz="3600" dirty="0">
                <a:latin typeface="Times New Roman" panose="02020603050405020304" pitchFamily="18" charset="0"/>
                <a:cs typeface="Times New Roman" panose="02020603050405020304" pitchFamily="18" charset="0"/>
              </a:rPr>
              <a:t>INTRODUCTION</a:t>
            </a:r>
          </a:p>
        </p:txBody>
      </p:sp>
      <p:sp>
        <p:nvSpPr>
          <p:cNvPr id="2" name="TextBox 1">
            <a:extLst>
              <a:ext uri="{FF2B5EF4-FFF2-40B4-BE49-F238E27FC236}">
                <a16:creationId xmlns:a16="http://schemas.microsoft.com/office/drawing/2014/main" id="{426A6160-79CF-4B6C-7C8B-B1F29CB53EA4}"/>
              </a:ext>
            </a:extLst>
          </p:cNvPr>
          <p:cNvSpPr txBox="1"/>
          <p:nvPr/>
        </p:nvSpPr>
        <p:spPr>
          <a:xfrm>
            <a:off x="1048512" y="1929384"/>
            <a:ext cx="10094976" cy="4093428"/>
          </a:xfrm>
          <a:prstGeom prst="rect">
            <a:avLst/>
          </a:prstGeom>
          <a:noFill/>
        </p:spPr>
        <p:txBody>
          <a:bodyPr wrap="square" rtlCol="0">
            <a:spAutoFit/>
          </a:bodyPr>
          <a:lstStyle/>
          <a:p>
            <a:pPr marL="285750" indent="-285750">
              <a:buFont typeface="Arial" panose="020B0604020202020204" pitchFamily="34" charset="0"/>
              <a:buChar char="•"/>
            </a:pPr>
            <a:r>
              <a:rPr lang="en-US" sz="2000" dirty="0"/>
              <a:t>This project is a standalone and modular cinema booking system designed to streamline the management of movies, showtimes, customers, and ticket bookings. </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It integrates multiple functional modules that work together to provide a seamless experience for both administrators and customers.</a:t>
            </a:r>
          </a:p>
          <a:p>
            <a:pPr marL="285750" indent="-285750">
              <a:buFont typeface="Arial" panose="020B0604020202020204" pitchFamily="34" charset="0"/>
              <a:buChar char="•"/>
            </a:pPr>
            <a:endParaRPr lang="en-US" sz="2000" b="1" dirty="0"/>
          </a:p>
          <a:p>
            <a:pPr marL="285750" indent="-285750">
              <a:buFont typeface="Arial" panose="020B0604020202020204" pitchFamily="34" charset="0"/>
              <a:buChar char="•"/>
            </a:pPr>
            <a:r>
              <a:rPr lang="en-US" sz="2000" dirty="0"/>
              <a:t>Key Features:</a:t>
            </a:r>
          </a:p>
          <a:p>
            <a:pPr marL="742950" lvl="1" indent="-285750">
              <a:buFont typeface="Arial" panose="020B0604020202020204" pitchFamily="34" charset="0"/>
              <a:buChar char="•"/>
            </a:pPr>
            <a:r>
              <a:rPr lang="en-US" sz="2000" dirty="0"/>
              <a:t>Modular architecture with interlinked components</a:t>
            </a:r>
          </a:p>
          <a:p>
            <a:pPr marL="742950" lvl="1" indent="-285750">
              <a:buFont typeface="Arial" panose="020B0604020202020204" pitchFamily="34" charset="0"/>
              <a:buChar char="•"/>
            </a:pPr>
            <a:r>
              <a:rPr lang="en-US" sz="2000" dirty="0"/>
              <a:t>Efficient management of movie listings, show schedules, customer data, and ticket bookings</a:t>
            </a:r>
          </a:p>
          <a:p>
            <a:pPr marL="742950" lvl="1" indent="-285750">
              <a:buFont typeface="Arial" panose="020B0604020202020204" pitchFamily="34" charset="0"/>
              <a:buChar char="•"/>
            </a:pPr>
            <a:r>
              <a:rPr lang="en-US" sz="2000" dirty="0"/>
              <a:t>Historical tracking of customer bookings</a:t>
            </a:r>
          </a:p>
          <a:p>
            <a:pPr marL="742950" lvl="1" indent="-285750">
              <a:buFont typeface="Arial" panose="020B0604020202020204" pitchFamily="34" charset="0"/>
              <a:buChar char="•"/>
            </a:pPr>
            <a:r>
              <a:rPr lang="en-US" sz="2000" dirty="0"/>
              <a:t>Implementation using Java Collections for dynamic data handling (e.g., </a:t>
            </a:r>
            <a:r>
              <a:rPr lang="en-US" sz="2000" dirty="0" err="1"/>
              <a:t>ArrayList</a:t>
            </a:r>
            <a:r>
              <a:rPr lang="en-US" sz="2000" dirty="0"/>
              <a:t>, HashMap, etc.)</a:t>
            </a:r>
          </a:p>
        </p:txBody>
      </p:sp>
    </p:spTree>
    <p:extLst>
      <p:ext uri="{BB962C8B-B14F-4D97-AF65-F5344CB8AC3E}">
        <p14:creationId xmlns:p14="http://schemas.microsoft.com/office/powerpoint/2010/main" val="3274541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F1684C08-6316-AFC1-1BDF-5B6A5B5B560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9FD1907-3949-27E9-EE43-5BC0CC9906AC}"/>
              </a:ext>
            </a:extLst>
          </p:cNvPr>
          <p:cNvSpPr>
            <a:spLocks noGrp="1"/>
          </p:cNvSpPr>
          <p:nvPr>
            <p:ph type="ctrTitle"/>
          </p:nvPr>
        </p:nvSpPr>
        <p:spPr>
          <a:xfrm>
            <a:off x="1524000" y="323958"/>
            <a:ext cx="9144000" cy="930049"/>
          </a:xfrm>
        </p:spPr>
        <p:txBody>
          <a:bodyPr>
            <a:normAutofit/>
          </a:bodyPr>
          <a:lstStyle/>
          <a:p>
            <a:r>
              <a:rPr lang="en-IN" sz="3600" dirty="0">
                <a:latin typeface="Times New Roman" panose="02020603050405020304" pitchFamily="18" charset="0"/>
                <a:cs typeface="Times New Roman" panose="02020603050405020304" pitchFamily="18" charset="0"/>
              </a:rPr>
              <a:t>OBJECTIVE</a:t>
            </a:r>
          </a:p>
        </p:txBody>
      </p:sp>
      <p:sp>
        <p:nvSpPr>
          <p:cNvPr id="8" name="TextBox 7">
            <a:extLst>
              <a:ext uri="{FF2B5EF4-FFF2-40B4-BE49-F238E27FC236}">
                <a16:creationId xmlns:a16="http://schemas.microsoft.com/office/drawing/2014/main" id="{989B7091-411A-A7DF-8A97-E22E084A8D76}"/>
              </a:ext>
            </a:extLst>
          </p:cNvPr>
          <p:cNvSpPr txBox="1"/>
          <p:nvPr/>
        </p:nvSpPr>
        <p:spPr>
          <a:xfrm>
            <a:off x="1048512" y="1929384"/>
            <a:ext cx="10094976" cy="3477875"/>
          </a:xfrm>
          <a:prstGeom prst="rect">
            <a:avLst/>
          </a:prstGeom>
          <a:noFill/>
        </p:spPr>
        <p:txBody>
          <a:bodyPr wrap="square" rtlCol="0">
            <a:spAutoFit/>
          </a:bodyPr>
          <a:lstStyle/>
          <a:p>
            <a:pPr marL="285750" indent="-285750">
              <a:buFont typeface="Arial" panose="020B0604020202020204" pitchFamily="34" charset="0"/>
              <a:buChar char="•"/>
            </a:pPr>
            <a:r>
              <a:rPr lang="en-US" sz="2000" dirty="0"/>
              <a:t>Develop a modular and efficient system for managing cinema operations using Java Collections Framework.</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Simplify the booking process for customers while providing administrators with tools to manage movies, showtimes, and customer data.</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Ensure seamless data flow between modules through shared identifiers (</a:t>
            </a:r>
            <a:r>
              <a:rPr lang="en-US" sz="2000" dirty="0" err="1"/>
              <a:t>movieId</a:t>
            </a:r>
            <a:r>
              <a:rPr lang="en-US" sz="2000" dirty="0"/>
              <a:t>, </a:t>
            </a:r>
            <a:r>
              <a:rPr lang="en-US" sz="2000" dirty="0" err="1"/>
              <a:t>showId</a:t>
            </a:r>
            <a:r>
              <a:rPr lang="en-US" sz="2000" dirty="0"/>
              <a:t>, etc.).</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Enable quick access to reports and booking history, improving operational transparency and customer service.</a:t>
            </a:r>
          </a:p>
        </p:txBody>
      </p:sp>
    </p:spTree>
    <p:extLst>
      <p:ext uri="{BB962C8B-B14F-4D97-AF65-F5344CB8AC3E}">
        <p14:creationId xmlns:p14="http://schemas.microsoft.com/office/powerpoint/2010/main" val="434562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81D032F2-347B-F9E6-2069-A4549E267D2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62E21DF-A233-BBCF-8AD4-9EDBFECBF82D}"/>
              </a:ext>
            </a:extLst>
          </p:cNvPr>
          <p:cNvSpPr>
            <a:spLocks noGrp="1"/>
          </p:cNvSpPr>
          <p:nvPr>
            <p:ph type="ctrTitle"/>
          </p:nvPr>
        </p:nvSpPr>
        <p:spPr>
          <a:xfrm>
            <a:off x="1524000" y="141078"/>
            <a:ext cx="9144000" cy="930049"/>
          </a:xfrm>
        </p:spPr>
        <p:txBody>
          <a:bodyPr>
            <a:normAutofit/>
          </a:bodyPr>
          <a:lstStyle/>
          <a:p>
            <a:r>
              <a:rPr lang="en-IN" sz="3600" dirty="0">
                <a:latin typeface="Times New Roman" panose="02020603050405020304" pitchFamily="18" charset="0"/>
                <a:cs typeface="Times New Roman" panose="02020603050405020304" pitchFamily="18" charset="0"/>
              </a:rPr>
              <a:t>ABOUT THE PROJECT</a:t>
            </a:r>
          </a:p>
        </p:txBody>
      </p:sp>
      <p:sp>
        <p:nvSpPr>
          <p:cNvPr id="5" name="TextBox 4">
            <a:extLst>
              <a:ext uri="{FF2B5EF4-FFF2-40B4-BE49-F238E27FC236}">
                <a16:creationId xmlns:a16="http://schemas.microsoft.com/office/drawing/2014/main" id="{0C97A353-8847-3D6B-6EF1-515D72D6361E}"/>
              </a:ext>
            </a:extLst>
          </p:cNvPr>
          <p:cNvSpPr txBox="1"/>
          <p:nvPr/>
        </p:nvSpPr>
        <p:spPr>
          <a:xfrm>
            <a:off x="1048512" y="1929384"/>
            <a:ext cx="10094976" cy="3785652"/>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project is a Standalone and Modular Movie Ticket Booking System designed to manage cinema operations digitally.</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automates movie scheduling, showtime management, customer registration, and ticket booking processes.</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is divided into five main modules — Movie Management, Showtime Management, Customer Management, Ticket Booking, and Booking History.</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All modules are interconnected through shared data identifiers like </a:t>
            </a:r>
            <a:r>
              <a:rPr lang="en-US" sz="2000" dirty="0" err="1">
                <a:latin typeface="Times New Roman" panose="02020603050405020304" pitchFamily="18" charset="0"/>
                <a:cs typeface="Times New Roman" panose="02020603050405020304" pitchFamily="18" charset="0"/>
              </a:rPr>
              <a:t>movieId</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showId</a:t>
            </a:r>
            <a:r>
              <a:rPr lang="en-US" sz="2000" dirty="0">
                <a:latin typeface="Times New Roman" panose="02020603050405020304" pitchFamily="18" charset="0"/>
                <a:cs typeface="Times New Roman" panose="02020603050405020304" pitchFamily="18" charset="0"/>
              </a:rPr>
              <a:t>, and </a:t>
            </a:r>
            <a:r>
              <a:rPr lang="en-US" sz="2000" dirty="0" err="1">
                <a:latin typeface="Times New Roman" panose="02020603050405020304" pitchFamily="18" charset="0"/>
                <a:cs typeface="Times New Roman" panose="02020603050405020304" pitchFamily="18" charset="0"/>
              </a:rPr>
              <a:t>customerId</a:t>
            </a:r>
            <a:r>
              <a:rPr lang="en-US" sz="20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21406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8DC67A0C-21AD-0C30-7252-99CDB143793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1A2641A-08A5-066F-6D2E-ABB748306929}"/>
              </a:ext>
            </a:extLst>
          </p:cNvPr>
          <p:cNvSpPr>
            <a:spLocks noGrp="1"/>
          </p:cNvSpPr>
          <p:nvPr>
            <p:ph type="ctrTitle"/>
          </p:nvPr>
        </p:nvSpPr>
        <p:spPr>
          <a:xfrm>
            <a:off x="1524000" y="141078"/>
            <a:ext cx="9144000" cy="930049"/>
          </a:xfrm>
        </p:spPr>
        <p:txBody>
          <a:bodyPr>
            <a:normAutofit/>
          </a:bodyPr>
          <a:lstStyle/>
          <a:p>
            <a:r>
              <a:rPr lang="en-IN" sz="3600" dirty="0">
                <a:latin typeface="Times New Roman" panose="02020603050405020304" pitchFamily="18" charset="0"/>
                <a:cs typeface="Times New Roman" panose="02020603050405020304" pitchFamily="18" charset="0"/>
              </a:rPr>
              <a:t>ABOUT THE PROJECT</a:t>
            </a:r>
          </a:p>
        </p:txBody>
      </p:sp>
      <p:sp>
        <p:nvSpPr>
          <p:cNvPr id="5" name="TextBox 4">
            <a:extLst>
              <a:ext uri="{FF2B5EF4-FFF2-40B4-BE49-F238E27FC236}">
                <a16:creationId xmlns:a16="http://schemas.microsoft.com/office/drawing/2014/main" id="{BA8DEBCF-31C5-1A83-CE89-1F4F8B6408E6}"/>
              </a:ext>
            </a:extLst>
          </p:cNvPr>
          <p:cNvSpPr txBox="1"/>
          <p:nvPr/>
        </p:nvSpPr>
        <p:spPr>
          <a:xfrm>
            <a:off x="1048512" y="1563624"/>
            <a:ext cx="10094976" cy="4708981"/>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provides two user interfaces — one for Admins and one for Customers for efficient role-based operations.</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Admins can manage movies, showtimes, and users, and monitor all ticket bookings.</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Users can browse available movies, book tickets, and view their personal booking history.</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ensures data consistency, accuracy, and easy access to information across all modules.</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Built with a modular and scalable architecture, making it easy to maintain and expand in the future.</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main goal is to provide a user-friendly, efficient, and automated solution for movie ticket management.</a:t>
            </a:r>
          </a:p>
        </p:txBody>
      </p:sp>
    </p:spTree>
    <p:extLst>
      <p:ext uri="{BB962C8B-B14F-4D97-AF65-F5344CB8AC3E}">
        <p14:creationId xmlns:p14="http://schemas.microsoft.com/office/powerpoint/2010/main" val="37816495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7C505A06-951F-BAF5-8C10-F453C9EA915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A12B4AB-7D92-007C-8A6D-B1EDF9AB3EA0}"/>
              </a:ext>
            </a:extLst>
          </p:cNvPr>
          <p:cNvSpPr>
            <a:spLocks noGrp="1"/>
          </p:cNvSpPr>
          <p:nvPr>
            <p:ph type="ctrTitle"/>
          </p:nvPr>
        </p:nvSpPr>
        <p:spPr>
          <a:xfrm>
            <a:off x="1524000" y="77070"/>
            <a:ext cx="9144000" cy="930049"/>
          </a:xfrm>
        </p:spPr>
        <p:txBody>
          <a:bodyPr>
            <a:normAutofit/>
          </a:bodyPr>
          <a:lstStyle/>
          <a:p>
            <a:r>
              <a:rPr lang="en-IN" sz="3600" dirty="0">
                <a:latin typeface="Times New Roman" panose="02020603050405020304" pitchFamily="18" charset="0"/>
                <a:cs typeface="Times New Roman" panose="02020603050405020304" pitchFamily="18" charset="0"/>
              </a:rPr>
              <a:t>PROJECT DETAILS</a:t>
            </a:r>
          </a:p>
        </p:txBody>
      </p:sp>
      <p:sp>
        <p:nvSpPr>
          <p:cNvPr id="2" name="TextBox 1">
            <a:extLst>
              <a:ext uri="{FF2B5EF4-FFF2-40B4-BE49-F238E27FC236}">
                <a16:creationId xmlns:a16="http://schemas.microsoft.com/office/drawing/2014/main" id="{8D522498-C857-4703-4C05-C85128CF02CA}"/>
              </a:ext>
            </a:extLst>
          </p:cNvPr>
          <p:cNvSpPr txBox="1"/>
          <p:nvPr/>
        </p:nvSpPr>
        <p:spPr>
          <a:xfrm>
            <a:off x="1048512" y="1148619"/>
            <a:ext cx="10094976" cy="5632311"/>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Online Movie Ticket Booking System aims to manage all aspects of movie showtimes, customer details, and ticket bookings, while offering administrators full control over content and data. It offers the following features:</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1. Movie Management:</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Admins can add, edit, and remove movies from the system.</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Each movie is defined by essential attributes such as </a:t>
            </a:r>
            <a:r>
              <a:rPr lang="en-US" sz="2000" dirty="0" err="1">
                <a:latin typeface="Times New Roman" panose="02020603050405020304" pitchFamily="18" charset="0"/>
                <a:cs typeface="Times New Roman" panose="02020603050405020304" pitchFamily="18" charset="0"/>
              </a:rPr>
              <a:t>movieId</a:t>
            </a:r>
            <a:r>
              <a:rPr lang="en-US" sz="2000" dirty="0">
                <a:latin typeface="Times New Roman" panose="02020603050405020304" pitchFamily="18" charset="0"/>
                <a:cs typeface="Times New Roman" panose="02020603050405020304" pitchFamily="18" charset="0"/>
              </a:rPr>
              <a:t>, title, genre, duration, and language.</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Enables categorization of movies for easy browsing by users.</a:t>
            </a:r>
          </a:p>
          <a:p>
            <a:pPr marL="742950" lvl="1"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2. Showtime Management:</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Admins can add and manage showtimes for each movie, specifying the </a:t>
            </a:r>
            <a:r>
              <a:rPr lang="en-US" sz="2000" dirty="0" err="1">
                <a:latin typeface="Times New Roman" panose="02020603050405020304" pitchFamily="18" charset="0"/>
                <a:cs typeface="Times New Roman" panose="02020603050405020304" pitchFamily="18" charset="0"/>
              </a:rPr>
              <a:t>showId</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movieId</a:t>
            </a:r>
            <a:r>
              <a:rPr lang="en-US" sz="2000" dirty="0">
                <a:latin typeface="Times New Roman" panose="02020603050405020304" pitchFamily="18" charset="0"/>
                <a:cs typeface="Times New Roman" panose="02020603050405020304" pitchFamily="18" charset="0"/>
              </a:rPr>
              <a:t>, date, and time.</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Allows the scheduling of multiple showtimes for a movie, making it convenient for users to select their preferred timing.</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61341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E7ECF957-D575-1338-291D-CFB8B2B4FD4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C7722E8-A917-6258-FE0D-352F5EA25B1F}"/>
              </a:ext>
            </a:extLst>
          </p:cNvPr>
          <p:cNvSpPr>
            <a:spLocks noGrp="1"/>
          </p:cNvSpPr>
          <p:nvPr>
            <p:ph type="ctrTitle"/>
          </p:nvPr>
        </p:nvSpPr>
        <p:spPr>
          <a:xfrm>
            <a:off x="1524000" y="77070"/>
            <a:ext cx="9144000" cy="930049"/>
          </a:xfrm>
        </p:spPr>
        <p:txBody>
          <a:bodyPr>
            <a:normAutofit/>
          </a:bodyPr>
          <a:lstStyle/>
          <a:p>
            <a:r>
              <a:rPr lang="en-IN" sz="3600" dirty="0">
                <a:latin typeface="Times New Roman" panose="02020603050405020304" pitchFamily="18" charset="0"/>
                <a:cs typeface="Times New Roman" panose="02020603050405020304" pitchFamily="18" charset="0"/>
              </a:rPr>
              <a:t>PROJECT DETAILS</a:t>
            </a:r>
          </a:p>
        </p:txBody>
      </p:sp>
      <p:sp>
        <p:nvSpPr>
          <p:cNvPr id="8" name="TextBox 7">
            <a:extLst>
              <a:ext uri="{FF2B5EF4-FFF2-40B4-BE49-F238E27FC236}">
                <a16:creationId xmlns:a16="http://schemas.microsoft.com/office/drawing/2014/main" id="{B951D2FA-901A-C41D-117B-A1528DCE16CA}"/>
              </a:ext>
            </a:extLst>
          </p:cNvPr>
          <p:cNvSpPr txBox="1"/>
          <p:nvPr/>
        </p:nvSpPr>
        <p:spPr>
          <a:xfrm>
            <a:off x="1048512" y="1148619"/>
            <a:ext cx="10094976" cy="4401205"/>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3. Customer Management:</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Admins can add, view, and delete customer profiles with details such as </a:t>
            </a:r>
            <a:r>
              <a:rPr lang="en-US" sz="2000" dirty="0" err="1">
                <a:latin typeface="Times New Roman" panose="02020603050405020304" pitchFamily="18" charset="0"/>
                <a:cs typeface="Times New Roman" panose="02020603050405020304" pitchFamily="18" charset="0"/>
              </a:rPr>
              <a:t>customerId</a:t>
            </a:r>
            <a:r>
              <a:rPr lang="en-US" sz="2000" dirty="0">
                <a:latin typeface="Times New Roman" panose="02020603050405020304" pitchFamily="18" charset="0"/>
                <a:cs typeface="Times New Roman" panose="02020603050405020304" pitchFamily="18" charset="0"/>
              </a:rPr>
              <a:t>, name, email, and phone.</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Ensures a complete record of each customer.</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4. Ticket Booking:</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Customers can select a movie and book tickets for a specific showtime by choosing the number of seats.</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Each booking is tied to a unique </a:t>
            </a:r>
            <a:r>
              <a:rPr lang="en-US" sz="2000" dirty="0" err="1">
                <a:latin typeface="Times New Roman" panose="02020603050405020304" pitchFamily="18" charset="0"/>
                <a:cs typeface="Times New Roman" panose="02020603050405020304" pitchFamily="18" charset="0"/>
              </a:rPr>
              <a:t>ticketId</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customerId</a:t>
            </a:r>
            <a:r>
              <a:rPr lang="en-US" sz="2000" dirty="0">
                <a:latin typeface="Times New Roman" panose="02020603050405020304" pitchFamily="18" charset="0"/>
                <a:cs typeface="Times New Roman" panose="02020603050405020304" pitchFamily="18" charset="0"/>
              </a:rPr>
              <a:t>, and </a:t>
            </a:r>
            <a:r>
              <a:rPr lang="en-US" sz="2000" dirty="0" err="1">
                <a:latin typeface="Times New Roman" panose="02020603050405020304" pitchFamily="18" charset="0"/>
                <a:cs typeface="Times New Roman" panose="02020603050405020304" pitchFamily="18" charset="0"/>
              </a:rPr>
              <a:t>showId</a:t>
            </a:r>
            <a:r>
              <a:rPr lang="en-US" sz="2000" dirty="0">
                <a:latin typeface="Times New Roman" panose="02020603050405020304" pitchFamily="18" charset="0"/>
                <a:cs typeface="Times New Roman" panose="02020603050405020304" pitchFamily="18" charset="0"/>
              </a:rPr>
              <a:t>, allowing for easy tracking.</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Admins can view all booked tickets, ensuring the availability of accurate data for showtimes and seat occupancy.</a:t>
            </a:r>
          </a:p>
        </p:txBody>
      </p:sp>
    </p:spTree>
    <p:extLst>
      <p:ext uri="{BB962C8B-B14F-4D97-AF65-F5344CB8AC3E}">
        <p14:creationId xmlns:p14="http://schemas.microsoft.com/office/powerpoint/2010/main" val="4517406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C5642026-7CB0-52E8-35CF-E9BCFBFAC9D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8115D85-977B-6419-0C42-8800065CC88C}"/>
              </a:ext>
            </a:extLst>
          </p:cNvPr>
          <p:cNvSpPr>
            <a:spLocks noGrp="1"/>
          </p:cNvSpPr>
          <p:nvPr>
            <p:ph type="ctrTitle"/>
          </p:nvPr>
        </p:nvSpPr>
        <p:spPr>
          <a:xfrm>
            <a:off x="1524000" y="77070"/>
            <a:ext cx="9144000" cy="930049"/>
          </a:xfrm>
        </p:spPr>
        <p:txBody>
          <a:bodyPr>
            <a:normAutofit/>
          </a:bodyPr>
          <a:lstStyle/>
          <a:p>
            <a:r>
              <a:rPr lang="en-IN" sz="3600" dirty="0">
                <a:latin typeface="Times New Roman" panose="02020603050405020304" pitchFamily="18" charset="0"/>
                <a:cs typeface="Times New Roman" panose="02020603050405020304" pitchFamily="18" charset="0"/>
              </a:rPr>
              <a:t>PROJECT DETAILS</a:t>
            </a:r>
          </a:p>
        </p:txBody>
      </p:sp>
      <p:sp>
        <p:nvSpPr>
          <p:cNvPr id="8" name="TextBox 7">
            <a:extLst>
              <a:ext uri="{FF2B5EF4-FFF2-40B4-BE49-F238E27FC236}">
                <a16:creationId xmlns:a16="http://schemas.microsoft.com/office/drawing/2014/main" id="{6E367BB0-41F3-DFC3-DA83-FB6DC776FF1E}"/>
              </a:ext>
            </a:extLst>
          </p:cNvPr>
          <p:cNvSpPr txBox="1"/>
          <p:nvPr/>
        </p:nvSpPr>
        <p:spPr>
          <a:xfrm>
            <a:off x="1048512" y="1148619"/>
            <a:ext cx="10094976" cy="3477875"/>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5. Booking History:</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Customers can view their past bookings including the details of tickets booked for each showtime.</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Helps users track their movie-going experiences and manage future bookings.</a:t>
            </a:r>
          </a:p>
          <a:p>
            <a:pPr marL="742950" lvl="1"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6. User and Admin Interfaces:</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Admins have special functionalities to manage movies, showtimes, customers, and bookings.</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Users (customers) can browse movies, book tickets, and track their booking history.</a:t>
            </a:r>
          </a:p>
        </p:txBody>
      </p:sp>
    </p:spTree>
    <p:extLst>
      <p:ext uri="{BB962C8B-B14F-4D97-AF65-F5344CB8AC3E}">
        <p14:creationId xmlns:p14="http://schemas.microsoft.com/office/powerpoint/2010/main" val="17547009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D829D502-8B40-CB95-6E30-E70F58D6CE6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D5760E6-0650-2343-AD57-591BE7D34042}"/>
              </a:ext>
            </a:extLst>
          </p:cNvPr>
          <p:cNvSpPr>
            <a:spLocks noGrp="1"/>
          </p:cNvSpPr>
          <p:nvPr>
            <p:ph type="ctrTitle"/>
          </p:nvPr>
        </p:nvSpPr>
        <p:spPr>
          <a:xfrm>
            <a:off x="1524000" y="141078"/>
            <a:ext cx="9144000" cy="930049"/>
          </a:xfrm>
        </p:spPr>
        <p:txBody>
          <a:bodyPr>
            <a:normAutofit/>
          </a:bodyPr>
          <a:lstStyle/>
          <a:p>
            <a:r>
              <a:rPr lang="en-IN" sz="3600" dirty="0">
                <a:latin typeface="Times New Roman" panose="02020603050405020304" pitchFamily="18" charset="0"/>
                <a:cs typeface="Times New Roman" panose="02020603050405020304" pitchFamily="18" charset="0"/>
              </a:rPr>
              <a:t>MAJOR MODULES</a:t>
            </a:r>
          </a:p>
        </p:txBody>
      </p:sp>
      <p:sp>
        <p:nvSpPr>
          <p:cNvPr id="2" name="TextBox 1">
            <a:extLst>
              <a:ext uri="{FF2B5EF4-FFF2-40B4-BE49-F238E27FC236}">
                <a16:creationId xmlns:a16="http://schemas.microsoft.com/office/drawing/2014/main" id="{F69D13AD-212C-99E8-E4F5-DAB388A1AB96}"/>
              </a:ext>
            </a:extLst>
          </p:cNvPr>
          <p:cNvSpPr txBox="1"/>
          <p:nvPr/>
        </p:nvSpPr>
        <p:spPr>
          <a:xfrm>
            <a:off x="1048512" y="1929384"/>
            <a:ext cx="10094976" cy="3477875"/>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Movie Management – Centralized control to add, update, and view movie details including genre, duration, and language.</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Showtime Management – Organizes scheduling of movies with date and time, ensuring smooth coordination across theaters.</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Customer Management – Maintains customer profiles and contact information for personalized service and tracking.</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Ticket Booking &amp; History – Enables seamless ticket reservations, seat allocation, and provides complete booking history for users and admins.</a:t>
            </a:r>
          </a:p>
        </p:txBody>
      </p:sp>
    </p:spTree>
    <p:extLst>
      <p:ext uri="{BB962C8B-B14F-4D97-AF65-F5344CB8AC3E}">
        <p14:creationId xmlns:p14="http://schemas.microsoft.com/office/powerpoint/2010/main" val="27110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E46E013A-4AF7-960C-B7E6-AC60FED5F80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1B9F721-AC26-9BBD-4CE8-28C89C57EAB6}"/>
              </a:ext>
            </a:extLst>
          </p:cNvPr>
          <p:cNvSpPr>
            <a:spLocks noGrp="1"/>
          </p:cNvSpPr>
          <p:nvPr>
            <p:ph type="ctrTitle"/>
          </p:nvPr>
        </p:nvSpPr>
        <p:spPr>
          <a:xfrm>
            <a:off x="1524000" y="558189"/>
            <a:ext cx="9144000" cy="723655"/>
          </a:xfrm>
        </p:spPr>
        <p:txBody>
          <a:bodyPr>
            <a:normAutofit/>
          </a:bodyPr>
          <a:lstStyle/>
          <a:p>
            <a:r>
              <a:rPr lang="en-IN" sz="3600" dirty="0">
                <a:latin typeface="Times New Roman" panose="02020603050405020304" pitchFamily="18" charset="0"/>
                <a:cs typeface="Times New Roman" panose="02020603050405020304" pitchFamily="18" charset="0"/>
              </a:rPr>
              <a:t>ROLES</a:t>
            </a:r>
          </a:p>
        </p:txBody>
      </p:sp>
      <p:sp>
        <p:nvSpPr>
          <p:cNvPr id="3" name="TextBox 2">
            <a:extLst>
              <a:ext uri="{FF2B5EF4-FFF2-40B4-BE49-F238E27FC236}">
                <a16:creationId xmlns:a16="http://schemas.microsoft.com/office/drawing/2014/main" id="{34CF7A50-9215-ADCD-38B1-65433CA2A3CA}"/>
              </a:ext>
            </a:extLst>
          </p:cNvPr>
          <p:cNvSpPr txBox="1"/>
          <p:nvPr/>
        </p:nvSpPr>
        <p:spPr>
          <a:xfrm>
            <a:off x="1048512" y="1929384"/>
            <a:ext cx="10094976" cy="4370427"/>
          </a:xfrm>
          <a:prstGeom prst="rect">
            <a:avLst/>
          </a:prstGeom>
          <a:noFill/>
        </p:spPr>
        <p:txBody>
          <a:bodyPr wrap="square" rtlCol="0">
            <a:spAutoFit/>
          </a:bodyPr>
          <a:lstStyle/>
          <a:p>
            <a:pPr marL="285750" indent="-285750">
              <a:buFont typeface="Arial" panose="020B0604020202020204" pitchFamily="34" charset="0"/>
              <a:buChar char="•"/>
            </a:pPr>
            <a:r>
              <a:rPr lang="en-US" sz="2000" dirty="0"/>
              <a:t>Abhijith Suresh (Team Lead)- Implemented the Movie Ticket booking system module, added separate interface for admin and normal users in UI</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Dona Binu (Team Member)- Implemented the customer purchase history module and also created the UI.</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Daniel </a:t>
            </a:r>
            <a:r>
              <a:rPr lang="en-US" sz="2000" dirty="0" err="1"/>
              <a:t>Pavun</a:t>
            </a:r>
            <a:r>
              <a:rPr lang="en-US" sz="2000" dirty="0"/>
              <a:t> Raj R (Team Member)- Implemented the Showtime management modules for movies.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Sabari Sundar A R (Team Member)- Implemented the Customer management module.</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IN" sz="2000" dirty="0" err="1"/>
              <a:t>Sudharsen</a:t>
            </a:r>
            <a:r>
              <a:rPr lang="en-IN" sz="2000" dirty="0"/>
              <a:t> R J (Team Member) – Implemented the Movie management module.</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p:txBody>
      </p:sp>
    </p:spTree>
    <p:extLst>
      <p:ext uri="{BB962C8B-B14F-4D97-AF65-F5344CB8AC3E}">
        <p14:creationId xmlns:p14="http://schemas.microsoft.com/office/powerpoint/2010/main" val="5028145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78E4DDEE-3BE9-6511-8F42-A284394B2A7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D3F45C2-18A0-709E-F351-704E7F045E70}"/>
              </a:ext>
            </a:extLst>
          </p:cNvPr>
          <p:cNvSpPr>
            <a:spLocks noGrp="1"/>
          </p:cNvSpPr>
          <p:nvPr>
            <p:ph type="ctrTitle"/>
          </p:nvPr>
        </p:nvSpPr>
        <p:spPr>
          <a:xfrm>
            <a:off x="1524000" y="565828"/>
            <a:ext cx="9144000" cy="613927"/>
          </a:xfrm>
        </p:spPr>
        <p:txBody>
          <a:bodyPr>
            <a:normAutofit/>
          </a:bodyPr>
          <a:lstStyle/>
          <a:p>
            <a:r>
              <a:rPr lang="en-IN" sz="3600" dirty="0">
                <a:latin typeface="Times New Roman" panose="02020603050405020304" pitchFamily="18" charset="0"/>
                <a:cs typeface="Times New Roman" panose="02020603050405020304" pitchFamily="18" charset="0"/>
              </a:rPr>
              <a:t>DURATION OF THE PROJECT</a:t>
            </a:r>
          </a:p>
        </p:txBody>
      </p:sp>
      <p:sp>
        <p:nvSpPr>
          <p:cNvPr id="5" name="TextBox 4">
            <a:extLst>
              <a:ext uri="{FF2B5EF4-FFF2-40B4-BE49-F238E27FC236}">
                <a16:creationId xmlns:a16="http://schemas.microsoft.com/office/drawing/2014/main" id="{EB5FB659-FE32-5E45-6579-96246223BB91}"/>
              </a:ext>
            </a:extLst>
          </p:cNvPr>
          <p:cNvSpPr txBox="1"/>
          <p:nvPr/>
        </p:nvSpPr>
        <p:spPr>
          <a:xfrm>
            <a:off x="1048512" y="1583191"/>
            <a:ext cx="10094976" cy="4708981"/>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Start Date &amp; Time:</a:t>
            </a:r>
          </a:p>
          <a:p>
            <a:br>
              <a:rPr lang="en-US" sz="2000" dirty="0">
                <a:latin typeface="Times New Roman" panose="02020603050405020304" pitchFamily="18" charset="0"/>
                <a:cs typeface="Times New Roman" panose="02020603050405020304" pitchFamily="18" charset="0"/>
              </a:rPr>
            </a:br>
            <a:r>
              <a:rPr lang="en-US" sz="2000" i="1" dirty="0">
                <a:latin typeface="Times New Roman" panose="02020603050405020304" pitchFamily="18" charset="0"/>
                <a:cs typeface="Times New Roman" panose="02020603050405020304" pitchFamily="18" charset="0"/>
              </a:rPr>
              <a:t>4th November 2025</a:t>
            </a:r>
            <a:r>
              <a:rPr lang="en-US" sz="2000" dirty="0">
                <a:latin typeface="Times New Roman" panose="02020603050405020304" pitchFamily="18" charset="0"/>
                <a:cs typeface="Times New Roman" panose="02020603050405020304" pitchFamily="18" charset="0"/>
              </a:rPr>
              <a:t> at </a:t>
            </a:r>
            <a:r>
              <a:rPr lang="en-US" sz="2000" i="1" dirty="0">
                <a:latin typeface="Times New Roman" panose="02020603050405020304" pitchFamily="18" charset="0"/>
                <a:cs typeface="Times New Roman" panose="02020603050405020304" pitchFamily="18" charset="0"/>
              </a:rPr>
              <a:t>2:00 PM</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Development Completion:</a:t>
            </a:r>
          </a:p>
          <a:p>
            <a:br>
              <a:rPr lang="en-US" sz="2000" dirty="0">
                <a:latin typeface="Times New Roman" panose="02020603050405020304" pitchFamily="18" charset="0"/>
                <a:cs typeface="Times New Roman" panose="02020603050405020304" pitchFamily="18" charset="0"/>
              </a:rPr>
            </a:br>
            <a:r>
              <a:rPr lang="en-US" sz="2000" i="1" dirty="0">
                <a:latin typeface="Times New Roman" panose="02020603050405020304" pitchFamily="18" charset="0"/>
                <a:cs typeface="Times New Roman" panose="02020603050405020304" pitchFamily="18" charset="0"/>
              </a:rPr>
              <a:t>4th November 2025</a:t>
            </a:r>
            <a:r>
              <a:rPr lang="en-US" sz="2000" dirty="0">
                <a:latin typeface="Times New Roman" panose="02020603050405020304" pitchFamily="18" charset="0"/>
                <a:cs typeface="Times New Roman" panose="02020603050405020304" pitchFamily="18" charset="0"/>
              </a:rPr>
              <a:t> at </a:t>
            </a:r>
            <a:r>
              <a:rPr lang="en-US" sz="2000" i="1" dirty="0">
                <a:latin typeface="Times New Roman" panose="02020603050405020304" pitchFamily="18" charset="0"/>
                <a:cs typeface="Times New Roman" panose="02020603050405020304" pitchFamily="18" charset="0"/>
              </a:rPr>
              <a:t>7:00 PM</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Integration Phase:</a:t>
            </a:r>
          </a:p>
          <a:p>
            <a:br>
              <a:rPr lang="en-US" sz="2000" dirty="0">
                <a:latin typeface="Times New Roman" panose="02020603050405020304" pitchFamily="18" charset="0"/>
                <a:cs typeface="Times New Roman" panose="02020603050405020304" pitchFamily="18" charset="0"/>
              </a:rPr>
            </a:br>
            <a:r>
              <a:rPr lang="en-US" sz="2000" i="1" dirty="0">
                <a:latin typeface="Times New Roman" panose="02020603050405020304" pitchFamily="18" charset="0"/>
                <a:cs typeface="Times New Roman" panose="02020603050405020304" pitchFamily="18" charset="0"/>
              </a:rPr>
              <a:t>5th November 2025</a:t>
            </a:r>
            <a:r>
              <a:rPr lang="en-US" sz="2000" dirty="0">
                <a:latin typeface="Times New Roman" panose="02020603050405020304" pitchFamily="18" charset="0"/>
                <a:cs typeface="Times New Roman" panose="02020603050405020304" pitchFamily="18" charset="0"/>
              </a:rPr>
              <a:t> from </a:t>
            </a:r>
            <a:r>
              <a:rPr lang="en-US" sz="2000" i="1" dirty="0">
                <a:latin typeface="Times New Roman" panose="02020603050405020304" pitchFamily="18" charset="0"/>
                <a:cs typeface="Times New Roman" panose="02020603050405020304" pitchFamily="18" charset="0"/>
              </a:rPr>
              <a:t>9:00 AM</a:t>
            </a:r>
            <a:r>
              <a:rPr lang="en-US" sz="2000" dirty="0">
                <a:latin typeface="Times New Roman" panose="02020603050405020304" pitchFamily="18" charset="0"/>
                <a:cs typeface="Times New Roman" panose="02020603050405020304" pitchFamily="18" charset="0"/>
              </a:rPr>
              <a:t> to </a:t>
            </a:r>
            <a:r>
              <a:rPr lang="en-US" sz="2000" i="1" dirty="0">
                <a:latin typeface="Times New Roman" panose="02020603050405020304" pitchFamily="18" charset="0"/>
                <a:cs typeface="Times New Roman" panose="02020603050405020304" pitchFamily="18" charset="0"/>
              </a:rPr>
              <a:t>10:00 AM</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Total Duration:</a:t>
            </a:r>
          </a:p>
          <a:p>
            <a:endParaRPr lang="en-US" sz="2000" b="1" dirty="0">
              <a:latin typeface="Times New Roman" panose="02020603050405020304" pitchFamily="18" charset="0"/>
              <a:cs typeface="Times New Roman" panose="02020603050405020304" pitchFamily="18" charset="0"/>
            </a:endParaRPr>
          </a:p>
          <a:p>
            <a:r>
              <a:rPr lang="en-US" sz="2000" i="1" dirty="0">
                <a:latin typeface="Times New Roman" panose="02020603050405020304" pitchFamily="18" charset="0"/>
                <a:cs typeface="Times New Roman" panose="02020603050405020304" pitchFamily="18" charset="0"/>
              </a:rPr>
              <a:t>6 hours</a:t>
            </a:r>
            <a:r>
              <a:rPr lang="en-US" sz="2000" dirty="0">
                <a:latin typeface="Times New Roman" panose="02020603050405020304" pitchFamily="18" charset="0"/>
                <a:cs typeface="Times New Roman" panose="02020603050405020304" pitchFamily="18" charset="0"/>
              </a:rPr>
              <a:t> (including development and integration)</a:t>
            </a:r>
          </a:p>
        </p:txBody>
      </p:sp>
    </p:spTree>
    <p:extLst>
      <p:ext uri="{BB962C8B-B14F-4D97-AF65-F5344CB8AC3E}">
        <p14:creationId xmlns:p14="http://schemas.microsoft.com/office/powerpoint/2010/main" val="25525933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08B63CD3-C3EB-FEE0-DE05-98F95991021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65CF33A-DD04-0222-1371-62A56229C69E}"/>
              </a:ext>
            </a:extLst>
          </p:cNvPr>
          <p:cNvSpPr>
            <a:spLocks noGrp="1"/>
          </p:cNvSpPr>
          <p:nvPr>
            <p:ph type="ctrTitle"/>
          </p:nvPr>
        </p:nvSpPr>
        <p:spPr>
          <a:xfrm>
            <a:off x="1524000" y="141078"/>
            <a:ext cx="9144000" cy="930049"/>
          </a:xfrm>
        </p:spPr>
        <p:txBody>
          <a:bodyPr>
            <a:normAutofit/>
          </a:bodyPr>
          <a:lstStyle/>
          <a:p>
            <a:r>
              <a:rPr lang="en-IN" sz="3600" dirty="0">
                <a:latin typeface="Times New Roman" panose="02020603050405020304" pitchFamily="18" charset="0"/>
                <a:cs typeface="Times New Roman" panose="02020603050405020304" pitchFamily="18" charset="0"/>
              </a:rPr>
              <a:t>APPROACH</a:t>
            </a:r>
          </a:p>
        </p:txBody>
      </p:sp>
      <p:sp>
        <p:nvSpPr>
          <p:cNvPr id="5" name="TextBox 4">
            <a:extLst>
              <a:ext uri="{FF2B5EF4-FFF2-40B4-BE49-F238E27FC236}">
                <a16:creationId xmlns:a16="http://schemas.microsoft.com/office/drawing/2014/main" id="{D3375326-A1D7-8628-3671-19F00B49CC65}"/>
              </a:ext>
            </a:extLst>
          </p:cNvPr>
          <p:cNvSpPr txBox="1"/>
          <p:nvPr/>
        </p:nvSpPr>
        <p:spPr>
          <a:xfrm>
            <a:off x="1048512" y="1325880"/>
            <a:ext cx="10094976" cy="510909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Our development approach for the Cinema Booking System focused on </a:t>
            </a:r>
            <a:r>
              <a:rPr lang="en-US" b="1" dirty="0">
                <a:latin typeface="Times New Roman" panose="02020603050405020304" pitchFamily="18" charset="0"/>
                <a:cs typeface="Times New Roman" panose="02020603050405020304" pitchFamily="18" charset="0"/>
              </a:rPr>
              <a:t>modularity, simplicity, and efficient data handling</a:t>
            </a:r>
            <a:r>
              <a:rPr lang="en-US" dirty="0">
                <a:latin typeface="Times New Roman" panose="02020603050405020304" pitchFamily="18" charset="0"/>
                <a:cs typeface="Times New Roman" panose="02020603050405020304" pitchFamily="18" charset="0"/>
              </a:rPr>
              <a:t> using Java. Here's how we structured it:</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1. Modular Design:</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Divided the system into five core modules: </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Movie Management</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Showtime Management</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Customer Management</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Ticket Booking</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Booking History</a:t>
            </a:r>
          </a:p>
          <a:p>
            <a:r>
              <a:rPr lang="en-US" dirty="0">
                <a:latin typeface="Times New Roman" panose="02020603050405020304" pitchFamily="18" charset="0"/>
                <a:cs typeface="Times New Roman" panose="02020603050405020304" pitchFamily="18" charset="0"/>
              </a:rPr>
              <a:t>Each module handles specific responsibilities and interacts with others through shared identifiers (</a:t>
            </a:r>
            <a:r>
              <a:rPr lang="en-US" dirty="0" err="1">
                <a:latin typeface="Times New Roman" panose="02020603050405020304" pitchFamily="18" charset="0"/>
                <a:cs typeface="Times New Roman" panose="02020603050405020304" pitchFamily="18" charset="0"/>
              </a:rPr>
              <a:t>movieId</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showId</a:t>
            </a:r>
            <a:r>
              <a:rPr lang="en-US" dirty="0">
                <a:latin typeface="Times New Roman" panose="02020603050405020304" pitchFamily="18" charset="0"/>
                <a:cs typeface="Times New Roman" panose="02020603050405020304" pitchFamily="18" charset="0"/>
              </a:rPr>
              <a:t>, etc.).</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2. Java Collections Framework:</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Used </a:t>
            </a:r>
            <a:r>
              <a:rPr lang="en-US" b="1" dirty="0" err="1">
                <a:latin typeface="Times New Roman" panose="02020603050405020304" pitchFamily="18" charset="0"/>
                <a:cs typeface="Times New Roman" panose="02020603050405020304" pitchFamily="18" charset="0"/>
              </a:rPr>
              <a:t>ArrayList</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HashMap</a:t>
            </a:r>
            <a:r>
              <a:rPr lang="en-US" dirty="0">
                <a:latin typeface="Times New Roman" panose="02020603050405020304" pitchFamily="18" charset="0"/>
                <a:cs typeface="Times New Roman" panose="02020603050405020304" pitchFamily="18" charset="0"/>
              </a:rPr>
              <a:t>, and other collection classes to store and manage dynamic data.</a:t>
            </a:r>
          </a:p>
          <a:p>
            <a:r>
              <a:rPr lang="en-US" dirty="0">
                <a:latin typeface="Times New Roman" panose="02020603050405020304" pitchFamily="18" charset="0"/>
                <a:cs typeface="Times New Roman" panose="02020603050405020304" pitchFamily="18" charset="0"/>
              </a:rPr>
              <a:t>Enabled fast access, insertion, and retrieval of records without using external databases.</a:t>
            </a:r>
          </a:p>
          <a:p>
            <a:pPr marL="285750" indent="-285750">
              <a:buFont typeface="Arial" panose="020B0604020202020204" pitchFamily="34" charset="0"/>
              <a:buChar char="•"/>
            </a:pPr>
            <a:endParaRPr lang="en-US" sz="2000" dirty="0"/>
          </a:p>
        </p:txBody>
      </p:sp>
    </p:spTree>
    <p:extLst>
      <p:ext uri="{BB962C8B-B14F-4D97-AF65-F5344CB8AC3E}">
        <p14:creationId xmlns:p14="http://schemas.microsoft.com/office/powerpoint/2010/main" val="13457900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F07675FC-19F6-7609-146C-193AAFC064A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F9C58E1-8C72-1015-8E30-EFF8B2C16521}"/>
              </a:ext>
            </a:extLst>
          </p:cNvPr>
          <p:cNvSpPr>
            <a:spLocks noGrp="1"/>
          </p:cNvSpPr>
          <p:nvPr>
            <p:ph type="ctrTitle"/>
          </p:nvPr>
        </p:nvSpPr>
        <p:spPr>
          <a:xfrm>
            <a:off x="1524000" y="250806"/>
            <a:ext cx="9144000" cy="930049"/>
          </a:xfrm>
        </p:spPr>
        <p:txBody>
          <a:bodyPr>
            <a:normAutofit/>
          </a:bodyPr>
          <a:lstStyle/>
          <a:p>
            <a:r>
              <a:rPr lang="en-IN" sz="3600" dirty="0">
                <a:latin typeface="Times New Roman" panose="02020603050405020304" pitchFamily="18" charset="0"/>
                <a:cs typeface="Times New Roman" panose="02020603050405020304" pitchFamily="18" charset="0"/>
              </a:rPr>
              <a:t>APPROACH</a:t>
            </a:r>
          </a:p>
        </p:txBody>
      </p:sp>
      <p:sp>
        <p:nvSpPr>
          <p:cNvPr id="5" name="TextBox 4">
            <a:extLst>
              <a:ext uri="{FF2B5EF4-FFF2-40B4-BE49-F238E27FC236}">
                <a16:creationId xmlns:a16="http://schemas.microsoft.com/office/drawing/2014/main" id="{4F4CDF02-B05E-FD88-A9FB-1DDD470046E5}"/>
              </a:ext>
            </a:extLst>
          </p:cNvPr>
          <p:cNvSpPr txBox="1"/>
          <p:nvPr/>
        </p:nvSpPr>
        <p:spPr>
          <a:xfrm>
            <a:off x="1048512" y="1929384"/>
            <a:ext cx="10094976" cy="2308324"/>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3. Data Interlinking:</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Maintained relationships between entities (e.g., movies and showtimes, customers and bookings) using unique IDs.</a:t>
            </a:r>
          </a:p>
          <a:p>
            <a:r>
              <a:rPr lang="en-US" dirty="0">
                <a:latin typeface="Times New Roman" panose="02020603050405020304" pitchFamily="18" charset="0"/>
                <a:cs typeface="Times New Roman" panose="02020603050405020304" pitchFamily="18" charset="0"/>
              </a:rPr>
              <a:t>Ensured consistency and traceability across modules.</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4. Console-Based Interaction:</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Implemented a simple </a:t>
            </a:r>
            <a:r>
              <a:rPr lang="en-US" b="1" dirty="0">
                <a:latin typeface="Times New Roman" panose="02020603050405020304" pitchFamily="18" charset="0"/>
                <a:cs typeface="Times New Roman" panose="02020603050405020304" pitchFamily="18" charset="0"/>
              </a:rPr>
              <a:t>console-based interface</a:t>
            </a:r>
            <a:r>
              <a:rPr lang="en-US" dirty="0">
                <a:latin typeface="Times New Roman" panose="02020603050405020304" pitchFamily="18" charset="0"/>
                <a:cs typeface="Times New Roman" panose="02020603050405020304" pitchFamily="18" charset="0"/>
              </a:rPr>
              <a:t> for input/output operations.</a:t>
            </a:r>
          </a:p>
          <a:p>
            <a:r>
              <a:rPr lang="en-US" dirty="0">
                <a:latin typeface="Times New Roman" panose="02020603050405020304" pitchFamily="18" charset="0"/>
                <a:cs typeface="Times New Roman" panose="02020603050405020304" pitchFamily="18" charset="0"/>
              </a:rPr>
              <a:t>Focused on functionality and logic over UI for clarity and ease of testing.</a:t>
            </a:r>
          </a:p>
        </p:txBody>
      </p:sp>
    </p:spTree>
    <p:extLst>
      <p:ext uri="{BB962C8B-B14F-4D97-AF65-F5344CB8AC3E}">
        <p14:creationId xmlns:p14="http://schemas.microsoft.com/office/powerpoint/2010/main" val="1050369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37947585-3F60-357F-46EB-C081B833370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C8A0B26-0247-7FC1-3D97-81379BF625EE}"/>
              </a:ext>
            </a:extLst>
          </p:cNvPr>
          <p:cNvSpPr>
            <a:spLocks noGrp="1"/>
          </p:cNvSpPr>
          <p:nvPr>
            <p:ph type="ctrTitle"/>
          </p:nvPr>
        </p:nvSpPr>
        <p:spPr>
          <a:xfrm>
            <a:off x="1524000" y="150222"/>
            <a:ext cx="9144000" cy="930049"/>
          </a:xfrm>
        </p:spPr>
        <p:txBody>
          <a:bodyPr>
            <a:normAutofit/>
          </a:bodyPr>
          <a:lstStyle/>
          <a:p>
            <a:r>
              <a:rPr lang="en-IN" sz="3600" dirty="0">
                <a:latin typeface="Times New Roman" panose="02020603050405020304" pitchFamily="18" charset="0"/>
                <a:cs typeface="Times New Roman" panose="02020603050405020304" pitchFamily="18" charset="0"/>
              </a:rPr>
              <a:t>SCREENSHOTS</a:t>
            </a:r>
          </a:p>
        </p:txBody>
      </p:sp>
      <p:pic>
        <p:nvPicPr>
          <p:cNvPr id="5" name="Picture 4" descr="A screenshot of a computer program&#10;&#10;AI-generated content may be incorrect.">
            <a:extLst>
              <a:ext uri="{FF2B5EF4-FFF2-40B4-BE49-F238E27FC236}">
                <a16:creationId xmlns:a16="http://schemas.microsoft.com/office/drawing/2014/main" id="{958FD1CC-4A31-03FB-CFE3-190A07C7DB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7341" y="1990753"/>
            <a:ext cx="4887035" cy="4717025"/>
          </a:xfrm>
          <a:prstGeom prst="rect">
            <a:avLst/>
          </a:prstGeom>
        </p:spPr>
      </p:pic>
      <p:sp>
        <p:nvSpPr>
          <p:cNvPr id="8" name="TextBox 7">
            <a:extLst>
              <a:ext uri="{FF2B5EF4-FFF2-40B4-BE49-F238E27FC236}">
                <a16:creationId xmlns:a16="http://schemas.microsoft.com/office/drawing/2014/main" id="{8D1DD022-EF30-2A44-38D2-13FA5AEB587C}"/>
              </a:ext>
            </a:extLst>
          </p:cNvPr>
          <p:cNvSpPr txBox="1"/>
          <p:nvPr/>
        </p:nvSpPr>
        <p:spPr>
          <a:xfrm>
            <a:off x="1738338" y="1488006"/>
            <a:ext cx="222504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Customer Entity</a:t>
            </a:r>
            <a:endParaRPr lang="en-US"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780CD19-8462-E544-1AAC-0AC288B6A70F}"/>
              </a:ext>
            </a:extLst>
          </p:cNvPr>
          <p:cNvSpPr txBox="1"/>
          <p:nvPr/>
        </p:nvSpPr>
        <p:spPr>
          <a:xfrm>
            <a:off x="8228621" y="1488006"/>
            <a:ext cx="2225040" cy="369332"/>
          </a:xfrm>
          <a:prstGeom prst="rect">
            <a:avLst/>
          </a:prstGeom>
          <a:noFill/>
        </p:spPr>
        <p:txBody>
          <a:bodyPr wrap="square" rtlCol="0">
            <a:spAutoFit/>
          </a:bodyPr>
          <a:lstStyle/>
          <a:p>
            <a:r>
              <a:rPr lang="en-US" b="1" dirty="0" err="1">
                <a:latin typeface="Times New Roman" panose="02020603050405020304" pitchFamily="18" charset="0"/>
                <a:cs typeface="Times New Roman" panose="02020603050405020304" pitchFamily="18" charset="0"/>
              </a:rPr>
              <a:t>BookInfo</a:t>
            </a:r>
            <a:r>
              <a:rPr lang="en-US" b="1" dirty="0">
                <a:latin typeface="Times New Roman" panose="02020603050405020304" pitchFamily="18" charset="0"/>
                <a:cs typeface="Times New Roman" panose="02020603050405020304" pitchFamily="18" charset="0"/>
              </a:rPr>
              <a:t> Entity</a:t>
            </a:r>
            <a:endParaRPr lang="en-US" dirty="0">
              <a:latin typeface="Times New Roman" panose="02020603050405020304" pitchFamily="18" charset="0"/>
              <a:cs typeface="Times New Roman" panose="02020603050405020304" pitchFamily="18" charset="0"/>
            </a:endParaRPr>
          </a:p>
        </p:txBody>
      </p:sp>
      <p:pic>
        <p:nvPicPr>
          <p:cNvPr id="7" name="Picture 6" descr="A screen shot of a computer program&#10;&#10;AI-generated content may be incorrect.">
            <a:extLst>
              <a:ext uri="{FF2B5EF4-FFF2-40B4-BE49-F238E27FC236}">
                <a16:creationId xmlns:a16="http://schemas.microsoft.com/office/drawing/2014/main" id="{C759EA08-4BC9-D6AB-17B4-04ADC3928E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53707" y="2265073"/>
            <a:ext cx="5330952" cy="2837279"/>
          </a:xfrm>
          <a:prstGeom prst="rect">
            <a:avLst/>
          </a:prstGeom>
        </p:spPr>
      </p:pic>
    </p:spTree>
    <p:extLst>
      <p:ext uri="{BB962C8B-B14F-4D97-AF65-F5344CB8AC3E}">
        <p14:creationId xmlns:p14="http://schemas.microsoft.com/office/powerpoint/2010/main" val="12651167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EAA82957-1DA4-CA98-FF09-66B093A82F9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D7DDD1A-091D-9518-9B77-40913B492DB8}"/>
              </a:ext>
            </a:extLst>
          </p:cNvPr>
          <p:cNvSpPr>
            <a:spLocks noGrp="1"/>
          </p:cNvSpPr>
          <p:nvPr>
            <p:ph type="ctrTitle"/>
          </p:nvPr>
        </p:nvSpPr>
        <p:spPr>
          <a:xfrm>
            <a:off x="1524000" y="150222"/>
            <a:ext cx="9144000" cy="930049"/>
          </a:xfrm>
        </p:spPr>
        <p:txBody>
          <a:bodyPr>
            <a:normAutofit/>
          </a:bodyPr>
          <a:lstStyle/>
          <a:p>
            <a:r>
              <a:rPr lang="en-IN" sz="3600" dirty="0">
                <a:latin typeface="Times New Roman" panose="02020603050405020304" pitchFamily="18" charset="0"/>
                <a:cs typeface="Times New Roman" panose="02020603050405020304" pitchFamily="18" charset="0"/>
              </a:rPr>
              <a:t>SCREENSHOTS</a:t>
            </a:r>
          </a:p>
        </p:txBody>
      </p:sp>
      <p:sp>
        <p:nvSpPr>
          <p:cNvPr id="8" name="TextBox 7">
            <a:extLst>
              <a:ext uri="{FF2B5EF4-FFF2-40B4-BE49-F238E27FC236}">
                <a16:creationId xmlns:a16="http://schemas.microsoft.com/office/drawing/2014/main" id="{4E30604F-D459-7121-7978-551149A7C7F2}"/>
              </a:ext>
            </a:extLst>
          </p:cNvPr>
          <p:cNvSpPr txBox="1"/>
          <p:nvPr/>
        </p:nvSpPr>
        <p:spPr>
          <a:xfrm>
            <a:off x="1738338" y="1488006"/>
            <a:ext cx="222504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Movie Entity</a:t>
            </a:r>
            <a:endParaRPr lang="en-US"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2561F21-B63B-34FF-CC9E-CA7996806334}"/>
              </a:ext>
            </a:extLst>
          </p:cNvPr>
          <p:cNvSpPr txBox="1"/>
          <p:nvPr/>
        </p:nvSpPr>
        <p:spPr>
          <a:xfrm>
            <a:off x="8302395" y="1488006"/>
            <a:ext cx="156460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Ticket Entity</a:t>
            </a:r>
            <a:endParaRPr lang="en-US" dirty="0">
              <a:latin typeface="Times New Roman" panose="02020603050405020304" pitchFamily="18" charset="0"/>
              <a:cs typeface="Times New Roman" panose="02020603050405020304" pitchFamily="18" charset="0"/>
            </a:endParaRPr>
          </a:p>
        </p:txBody>
      </p:sp>
      <p:pic>
        <p:nvPicPr>
          <p:cNvPr id="4102" name="Picture 6">
            <a:extLst>
              <a:ext uri="{FF2B5EF4-FFF2-40B4-BE49-F238E27FC236}">
                <a16:creationId xmlns:a16="http://schemas.microsoft.com/office/drawing/2014/main" id="{FBD38B5F-6F30-674D-9B52-56373691CC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162" y="2265073"/>
            <a:ext cx="5041391" cy="4311716"/>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a:extLst>
              <a:ext uri="{FF2B5EF4-FFF2-40B4-BE49-F238E27FC236}">
                <a16:creationId xmlns:a16="http://schemas.microsoft.com/office/drawing/2014/main" id="{626BF028-730E-3ECB-453A-D171B2D0F1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7557" y="2265071"/>
            <a:ext cx="5554281" cy="44427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77683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A4432318-A1D9-FFDB-4F66-4C0E3385065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F2FA657-E842-62A5-2788-AF3933722FC3}"/>
              </a:ext>
            </a:extLst>
          </p:cNvPr>
          <p:cNvSpPr>
            <a:spLocks noGrp="1"/>
          </p:cNvSpPr>
          <p:nvPr>
            <p:ph type="ctrTitle"/>
          </p:nvPr>
        </p:nvSpPr>
        <p:spPr>
          <a:xfrm>
            <a:off x="1524000" y="150222"/>
            <a:ext cx="9144000" cy="930049"/>
          </a:xfrm>
        </p:spPr>
        <p:txBody>
          <a:bodyPr>
            <a:normAutofit/>
          </a:bodyPr>
          <a:lstStyle/>
          <a:p>
            <a:r>
              <a:rPr lang="en-IN" sz="3600" dirty="0">
                <a:latin typeface="Times New Roman" panose="02020603050405020304" pitchFamily="18" charset="0"/>
                <a:cs typeface="Times New Roman" panose="02020603050405020304" pitchFamily="18" charset="0"/>
              </a:rPr>
              <a:t>SCREENSHOTS</a:t>
            </a:r>
          </a:p>
        </p:txBody>
      </p:sp>
      <p:sp>
        <p:nvSpPr>
          <p:cNvPr id="8" name="TextBox 7">
            <a:extLst>
              <a:ext uri="{FF2B5EF4-FFF2-40B4-BE49-F238E27FC236}">
                <a16:creationId xmlns:a16="http://schemas.microsoft.com/office/drawing/2014/main" id="{D614BA89-6744-7B76-3D19-4182E2D7A59F}"/>
              </a:ext>
            </a:extLst>
          </p:cNvPr>
          <p:cNvSpPr txBox="1"/>
          <p:nvPr/>
        </p:nvSpPr>
        <p:spPr>
          <a:xfrm>
            <a:off x="1927802" y="1540403"/>
            <a:ext cx="184611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Showtime Entity</a:t>
            </a:r>
            <a:endParaRPr lang="en-US"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52A6C59-C5BE-AFDE-BA16-8A1AEEBDAE85}"/>
              </a:ext>
            </a:extLst>
          </p:cNvPr>
          <p:cNvSpPr txBox="1"/>
          <p:nvPr/>
        </p:nvSpPr>
        <p:spPr>
          <a:xfrm>
            <a:off x="7466028" y="1414812"/>
            <a:ext cx="323733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Customer management service</a:t>
            </a:r>
            <a:endParaRPr lang="en-US" dirty="0">
              <a:latin typeface="Times New Roman" panose="02020603050405020304" pitchFamily="18" charset="0"/>
              <a:cs typeface="Times New Roman" panose="02020603050405020304" pitchFamily="18" charset="0"/>
            </a:endParaRPr>
          </a:p>
        </p:txBody>
      </p:sp>
      <p:pic>
        <p:nvPicPr>
          <p:cNvPr id="8194" name="Picture 2">
            <a:extLst>
              <a:ext uri="{FF2B5EF4-FFF2-40B4-BE49-F238E27FC236}">
                <a16:creationId xmlns:a16="http://schemas.microsoft.com/office/drawing/2014/main" id="{D7EB0685-8C2A-FD5E-45CC-EF71552FEF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9164" y="1962042"/>
            <a:ext cx="4243387" cy="4745736"/>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a:extLst>
              <a:ext uri="{FF2B5EF4-FFF2-40B4-BE49-F238E27FC236}">
                <a16:creationId xmlns:a16="http://schemas.microsoft.com/office/drawing/2014/main" id="{8A9D9EDF-9772-0A7F-79E0-9AE1BEE4D0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69498" y="1909735"/>
            <a:ext cx="4430395" cy="44881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35862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FAC56C3F-EE20-894D-A4FF-14E02FC1283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C47DA09-D5FB-A4DE-F3BD-679DABAF3E96}"/>
              </a:ext>
            </a:extLst>
          </p:cNvPr>
          <p:cNvSpPr>
            <a:spLocks noGrp="1"/>
          </p:cNvSpPr>
          <p:nvPr>
            <p:ph type="ctrTitle"/>
          </p:nvPr>
        </p:nvSpPr>
        <p:spPr>
          <a:xfrm>
            <a:off x="1524000" y="150222"/>
            <a:ext cx="9144000" cy="930049"/>
          </a:xfrm>
        </p:spPr>
        <p:txBody>
          <a:bodyPr>
            <a:normAutofit/>
          </a:bodyPr>
          <a:lstStyle/>
          <a:p>
            <a:r>
              <a:rPr lang="en-IN" sz="3600" dirty="0">
                <a:latin typeface="Times New Roman" panose="02020603050405020304" pitchFamily="18" charset="0"/>
                <a:cs typeface="Times New Roman" panose="02020603050405020304" pitchFamily="18" charset="0"/>
              </a:rPr>
              <a:t>SCREENSHOTS</a:t>
            </a:r>
          </a:p>
        </p:txBody>
      </p:sp>
      <p:sp>
        <p:nvSpPr>
          <p:cNvPr id="8" name="TextBox 7">
            <a:extLst>
              <a:ext uri="{FF2B5EF4-FFF2-40B4-BE49-F238E27FC236}">
                <a16:creationId xmlns:a16="http://schemas.microsoft.com/office/drawing/2014/main" id="{7E5DDC7F-FB38-CFAB-22F5-14460B3B4E81}"/>
              </a:ext>
            </a:extLst>
          </p:cNvPr>
          <p:cNvSpPr txBox="1"/>
          <p:nvPr/>
        </p:nvSpPr>
        <p:spPr>
          <a:xfrm>
            <a:off x="1357410" y="1540403"/>
            <a:ext cx="323733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Movie management service</a:t>
            </a:r>
            <a:endParaRPr lang="en-US"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A352ACD-861D-568F-EBB3-4107E9D3C841}"/>
              </a:ext>
            </a:extLst>
          </p:cNvPr>
          <p:cNvSpPr txBox="1"/>
          <p:nvPr/>
        </p:nvSpPr>
        <p:spPr>
          <a:xfrm>
            <a:off x="7466028" y="1414812"/>
            <a:ext cx="323733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Showtime management service</a:t>
            </a:r>
            <a:endParaRPr lang="en-US" dirty="0">
              <a:latin typeface="Times New Roman" panose="02020603050405020304" pitchFamily="18" charset="0"/>
              <a:cs typeface="Times New Roman" panose="02020603050405020304" pitchFamily="18" charset="0"/>
            </a:endParaRPr>
          </a:p>
        </p:txBody>
      </p:sp>
      <p:pic>
        <p:nvPicPr>
          <p:cNvPr id="9218" name="Picture 2">
            <a:extLst>
              <a:ext uri="{FF2B5EF4-FFF2-40B4-BE49-F238E27FC236}">
                <a16:creationId xmlns:a16="http://schemas.microsoft.com/office/drawing/2014/main" id="{472F8C95-9D59-E67E-A147-BBF7D0BD70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0878" y="2048256"/>
            <a:ext cx="4430395" cy="4416552"/>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a:extLst>
              <a:ext uri="{FF2B5EF4-FFF2-40B4-BE49-F238E27FC236}">
                <a16:creationId xmlns:a16="http://schemas.microsoft.com/office/drawing/2014/main" id="{C022ABA1-CFB8-0A2B-1F9B-8B36CE9920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7105" y="1907178"/>
            <a:ext cx="4275177" cy="480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36527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848C7571-1C5B-62BA-CB4B-980A46842E0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2FC4831-7937-A640-7496-861CBE27F4B1}"/>
              </a:ext>
            </a:extLst>
          </p:cNvPr>
          <p:cNvSpPr>
            <a:spLocks noGrp="1"/>
          </p:cNvSpPr>
          <p:nvPr>
            <p:ph type="ctrTitle"/>
          </p:nvPr>
        </p:nvSpPr>
        <p:spPr>
          <a:xfrm>
            <a:off x="1524000" y="150222"/>
            <a:ext cx="9144000" cy="930049"/>
          </a:xfrm>
        </p:spPr>
        <p:txBody>
          <a:bodyPr>
            <a:normAutofit/>
          </a:bodyPr>
          <a:lstStyle/>
          <a:p>
            <a:r>
              <a:rPr lang="en-IN" sz="3600" dirty="0">
                <a:latin typeface="Times New Roman" panose="02020603050405020304" pitchFamily="18" charset="0"/>
                <a:cs typeface="Times New Roman" panose="02020603050405020304" pitchFamily="18" charset="0"/>
              </a:rPr>
              <a:t>SCREENSHOTS</a:t>
            </a:r>
          </a:p>
        </p:txBody>
      </p:sp>
      <p:sp>
        <p:nvSpPr>
          <p:cNvPr id="8" name="TextBox 7">
            <a:extLst>
              <a:ext uri="{FF2B5EF4-FFF2-40B4-BE49-F238E27FC236}">
                <a16:creationId xmlns:a16="http://schemas.microsoft.com/office/drawing/2014/main" id="{AF33144F-2F7E-B5ED-4D7D-12C56C072986}"/>
              </a:ext>
            </a:extLst>
          </p:cNvPr>
          <p:cNvSpPr txBox="1"/>
          <p:nvPr/>
        </p:nvSpPr>
        <p:spPr>
          <a:xfrm>
            <a:off x="1775689" y="1553311"/>
            <a:ext cx="240077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Ticket booking service</a:t>
            </a:r>
            <a:endParaRPr lang="en-US"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687F9DF-784B-51DF-7D9D-D30E2B0AF0F5}"/>
              </a:ext>
            </a:extLst>
          </p:cNvPr>
          <p:cNvSpPr txBox="1"/>
          <p:nvPr/>
        </p:nvSpPr>
        <p:spPr>
          <a:xfrm>
            <a:off x="7779363" y="1442244"/>
            <a:ext cx="261066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Booking History service</a:t>
            </a:r>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C3745CC-5A8E-E058-3C4B-B0E45CB88FF7}"/>
              </a:ext>
            </a:extLst>
          </p:cNvPr>
          <p:cNvPicPr>
            <a:picLocks noChangeAspect="1"/>
          </p:cNvPicPr>
          <p:nvPr/>
        </p:nvPicPr>
        <p:blipFill>
          <a:blip r:embed="rId2"/>
          <a:stretch>
            <a:fillRect/>
          </a:stretch>
        </p:blipFill>
        <p:spPr>
          <a:xfrm>
            <a:off x="322668" y="2044338"/>
            <a:ext cx="5306816" cy="4526280"/>
          </a:xfrm>
          <a:prstGeom prst="rect">
            <a:avLst/>
          </a:prstGeom>
        </p:spPr>
      </p:pic>
      <p:pic>
        <p:nvPicPr>
          <p:cNvPr id="7" name="Picture 6">
            <a:extLst>
              <a:ext uri="{FF2B5EF4-FFF2-40B4-BE49-F238E27FC236}">
                <a16:creationId xmlns:a16="http://schemas.microsoft.com/office/drawing/2014/main" id="{F0EECC0A-0A32-37EA-99D0-BBFF1B5789F8}"/>
              </a:ext>
            </a:extLst>
          </p:cNvPr>
          <p:cNvPicPr>
            <a:picLocks noChangeAspect="1"/>
          </p:cNvPicPr>
          <p:nvPr/>
        </p:nvPicPr>
        <p:blipFill>
          <a:blip r:embed="rId3"/>
          <a:stretch>
            <a:fillRect/>
          </a:stretch>
        </p:blipFill>
        <p:spPr>
          <a:xfrm>
            <a:off x="6583799" y="1911165"/>
            <a:ext cx="5001790" cy="4792626"/>
          </a:xfrm>
          <a:prstGeom prst="rect">
            <a:avLst/>
          </a:prstGeom>
        </p:spPr>
      </p:pic>
    </p:spTree>
    <p:extLst>
      <p:ext uri="{BB962C8B-B14F-4D97-AF65-F5344CB8AC3E}">
        <p14:creationId xmlns:p14="http://schemas.microsoft.com/office/powerpoint/2010/main" val="27107729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45FF9F5D-AE03-0FE7-5F29-9EF5EBCCAEB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D35C178-D2D9-C89D-D078-23ACDB59693F}"/>
              </a:ext>
            </a:extLst>
          </p:cNvPr>
          <p:cNvSpPr>
            <a:spLocks noGrp="1"/>
          </p:cNvSpPr>
          <p:nvPr>
            <p:ph type="ctrTitle"/>
          </p:nvPr>
        </p:nvSpPr>
        <p:spPr>
          <a:xfrm>
            <a:off x="1524000" y="150222"/>
            <a:ext cx="9144000" cy="930049"/>
          </a:xfrm>
        </p:spPr>
        <p:txBody>
          <a:bodyPr>
            <a:normAutofit/>
          </a:bodyPr>
          <a:lstStyle/>
          <a:p>
            <a:r>
              <a:rPr lang="en-IN" sz="3600" dirty="0">
                <a:latin typeface="Times New Roman" panose="02020603050405020304" pitchFamily="18" charset="0"/>
                <a:cs typeface="Times New Roman" panose="02020603050405020304" pitchFamily="18" charset="0"/>
              </a:rPr>
              <a:t>SCREENSHOTS</a:t>
            </a:r>
          </a:p>
        </p:txBody>
      </p:sp>
      <p:sp>
        <p:nvSpPr>
          <p:cNvPr id="8" name="TextBox 7">
            <a:extLst>
              <a:ext uri="{FF2B5EF4-FFF2-40B4-BE49-F238E27FC236}">
                <a16:creationId xmlns:a16="http://schemas.microsoft.com/office/drawing/2014/main" id="{C60FEC33-4073-8327-FEF4-67F85A00766B}"/>
              </a:ext>
            </a:extLst>
          </p:cNvPr>
          <p:cNvSpPr txBox="1"/>
          <p:nvPr/>
        </p:nvSpPr>
        <p:spPr>
          <a:xfrm>
            <a:off x="1775689" y="1553311"/>
            <a:ext cx="240077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Movie Validation</a:t>
            </a:r>
            <a:endParaRPr lang="en-US"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59C3E2F-81B1-CC99-6FB6-3A7BE8A86D61}"/>
              </a:ext>
            </a:extLst>
          </p:cNvPr>
          <p:cNvSpPr txBox="1"/>
          <p:nvPr/>
        </p:nvSpPr>
        <p:spPr>
          <a:xfrm>
            <a:off x="7779363" y="1442244"/>
            <a:ext cx="261066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Customer validation</a:t>
            </a:r>
            <a:endParaRPr lang="en-US" dirty="0">
              <a:latin typeface="Times New Roman" panose="02020603050405020304" pitchFamily="18" charset="0"/>
              <a:cs typeface="Times New Roman" panose="02020603050405020304" pitchFamily="18" charset="0"/>
            </a:endParaRPr>
          </a:p>
        </p:txBody>
      </p:sp>
      <p:pic>
        <p:nvPicPr>
          <p:cNvPr id="10242" name="Picture 2">
            <a:extLst>
              <a:ext uri="{FF2B5EF4-FFF2-40B4-BE49-F238E27FC236}">
                <a16:creationId xmlns:a16="http://schemas.microsoft.com/office/drawing/2014/main" id="{15468924-F057-CDFF-D41B-3C28AAB8A4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432" y="2395683"/>
            <a:ext cx="5733287" cy="3282961"/>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a:extLst>
              <a:ext uri="{FF2B5EF4-FFF2-40B4-BE49-F238E27FC236}">
                <a16:creationId xmlns:a16="http://schemas.microsoft.com/office/drawing/2014/main" id="{A69D7595-97F1-0B0F-546C-6FE4F5F1C8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3864" y="2636615"/>
            <a:ext cx="5641657" cy="27791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63902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D4F02035-02B5-8E5C-F7F5-29C8CDCB011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0506339-495F-4542-8E4C-4A339B07DBAE}"/>
              </a:ext>
            </a:extLst>
          </p:cNvPr>
          <p:cNvSpPr>
            <a:spLocks noGrp="1"/>
          </p:cNvSpPr>
          <p:nvPr>
            <p:ph type="ctrTitle"/>
          </p:nvPr>
        </p:nvSpPr>
        <p:spPr>
          <a:xfrm>
            <a:off x="1524000" y="150222"/>
            <a:ext cx="9144000" cy="930049"/>
          </a:xfrm>
        </p:spPr>
        <p:txBody>
          <a:bodyPr>
            <a:normAutofit/>
          </a:bodyPr>
          <a:lstStyle/>
          <a:p>
            <a:r>
              <a:rPr lang="en-IN" sz="3600" dirty="0">
                <a:latin typeface="Times New Roman" panose="02020603050405020304" pitchFamily="18" charset="0"/>
                <a:cs typeface="Times New Roman" panose="02020603050405020304" pitchFamily="18" charset="0"/>
              </a:rPr>
              <a:t>SCREENSHOTS</a:t>
            </a:r>
          </a:p>
        </p:txBody>
      </p:sp>
      <p:sp>
        <p:nvSpPr>
          <p:cNvPr id="3" name="TextBox 2">
            <a:extLst>
              <a:ext uri="{FF2B5EF4-FFF2-40B4-BE49-F238E27FC236}">
                <a16:creationId xmlns:a16="http://schemas.microsoft.com/office/drawing/2014/main" id="{FB34E270-77C2-D90F-FE6C-83120EF3E59B}"/>
              </a:ext>
            </a:extLst>
          </p:cNvPr>
          <p:cNvSpPr txBox="1"/>
          <p:nvPr/>
        </p:nvSpPr>
        <p:spPr>
          <a:xfrm>
            <a:off x="5227885" y="1332516"/>
            <a:ext cx="173623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User Interface</a:t>
            </a:r>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63D28FD-2FF4-85D4-65A1-17B7A2782BCF}"/>
              </a:ext>
            </a:extLst>
          </p:cNvPr>
          <p:cNvPicPr>
            <a:picLocks noChangeAspect="1"/>
          </p:cNvPicPr>
          <p:nvPr/>
        </p:nvPicPr>
        <p:blipFill>
          <a:blip r:embed="rId2"/>
          <a:stretch>
            <a:fillRect/>
          </a:stretch>
        </p:blipFill>
        <p:spPr>
          <a:xfrm>
            <a:off x="2869426" y="1954093"/>
            <a:ext cx="6453148" cy="4843831"/>
          </a:xfrm>
          <a:prstGeom prst="rect">
            <a:avLst/>
          </a:prstGeom>
        </p:spPr>
      </p:pic>
    </p:spTree>
    <p:extLst>
      <p:ext uri="{BB962C8B-B14F-4D97-AF65-F5344CB8AC3E}">
        <p14:creationId xmlns:p14="http://schemas.microsoft.com/office/powerpoint/2010/main" val="29132133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F35649AC-3BA2-372E-8F1A-33FBA9821E9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8EAC97C-4405-41CD-B3B9-1936204FD7EF}"/>
              </a:ext>
            </a:extLst>
          </p:cNvPr>
          <p:cNvSpPr>
            <a:spLocks noGrp="1"/>
          </p:cNvSpPr>
          <p:nvPr>
            <p:ph type="ctrTitle"/>
          </p:nvPr>
        </p:nvSpPr>
        <p:spPr>
          <a:xfrm>
            <a:off x="1524000" y="150222"/>
            <a:ext cx="9144000" cy="930049"/>
          </a:xfrm>
        </p:spPr>
        <p:txBody>
          <a:bodyPr>
            <a:normAutofit/>
          </a:bodyPr>
          <a:lstStyle/>
          <a:p>
            <a:r>
              <a:rPr lang="en-IN" sz="3600" dirty="0">
                <a:latin typeface="Times New Roman" panose="02020603050405020304" pitchFamily="18" charset="0"/>
                <a:cs typeface="Times New Roman" panose="02020603050405020304" pitchFamily="18" charset="0"/>
              </a:rPr>
              <a:t>SCREENSHOTS</a:t>
            </a:r>
          </a:p>
        </p:txBody>
      </p:sp>
      <p:sp>
        <p:nvSpPr>
          <p:cNvPr id="3" name="TextBox 2">
            <a:extLst>
              <a:ext uri="{FF2B5EF4-FFF2-40B4-BE49-F238E27FC236}">
                <a16:creationId xmlns:a16="http://schemas.microsoft.com/office/drawing/2014/main" id="{7FF4B071-2D1B-95F6-53A1-D6BFDD18648B}"/>
              </a:ext>
            </a:extLst>
          </p:cNvPr>
          <p:cNvSpPr txBox="1"/>
          <p:nvPr/>
        </p:nvSpPr>
        <p:spPr>
          <a:xfrm>
            <a:off x="5227885" y="1332516"/>
            <a:ext cx="173623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User Interface</a:t>
            </a:r>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BEC1759-D3BC-D121-8C51-5083A59F4C05}"/>
              </a:ext>
            </a:extLst>
          </p:cNvPr>
          <p:cNvPicPr>
            <a:picLocks noChangeAspect="1"/>
          </p:cNvPicPr>
          <p:nvPr/>
        </p:nvPicPr>
        <p:blipFill>
          <a:blip r:embed="rId2"/>
          <a:stretch>
            <a:fillRect/>
          </a:stretch>
        </p:blipFill>
        <p:spPr>
          <a:xfrm>
            <a:off x="2869426" y="1954093"/>
            <a:ext cx="6453148" cy="4843831"/>
          </a:xfrm>
          <a:prstGeom prst="rect">
            <a:avLst/>
          </a:prstGeom>
        </p:spPr>
      </p:pic>
    </p:spTree>
    <p:extLst>
      <p:ext uri="{BB962C8B-B14F-4D97-AF65-F5344CB8AC3E}">
        <p14:creationId xmlns:p14="http://schemas.microsoft.com/office/powerpoint/2010/main" val="11723846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91E9D122-7FCD-4D0B-BBAE-9B833A7E7A3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14A5640-B61A-0CB0-02DE-5FA12DC733DC}"/>
              </a:ext>
            </a:extLst>
          </p:cNvPr>
          <p:cNvSpPr>
            <a:spLocks noGrp="1"/>
          </p:cNvSpPr>
          <p:nvPr>
            <p:ph type="ctrTitle"/>
          </p:nvPr>
        </p:nvSpPr>
        <p:spPr>
          <a:xfrm>
            <a:off x="1524000" y="150222"/>
            <a:ext cx="9144000" cy="930049"/>
          </a:xfrm>
        </p:spPr>
        <p:txBody>
          <a:bodyPr>
            <a:normAutofit/>
          </a:bodyPr>
          <a:lstStyle/>
          <a:p>
            <a:r>
              <a:rPr lang="en-IN" sz="3600" dirty="0">
                <a:latin typeface="Times New Roman" panose="02020603050405020304" pitchFamily="18" charset="0"/>
                <a:cs typeface="Times New Roman" panose="02020603050405020304" pitchFamily="18" charset="0"/>
              </a:rPr>
              <a:t>SCREENSHOTS</a:t>
            </a:r>
          </a:p>
        </p:txBody>
      </p:sp>
      <p:sp>
        <p:nvSpPr>
          <p:cNvPr id="3" name="TextBox 2">
            <a:extLst>
              <a:ext uri="{FF2B5EF4-FFF2-40B4-BE49-F238E27FC236}">
                <a16:creationId xmlns:a16="http://schemas.microsoft.com/office/drawing/2014/main" id="{E1BA7F27-D820-FCBE-2C7D-66CA2D31187D}"/>
              </a:ext>
            </a:extLst>
          </p:cNvPr>
          <p:cNvSpPr txBox="1"/>
          <p:nvPr/>
        </p:nvSpPr>
        <p:spPr>
          <a:xfrm>
            <a:off x="5527830" y="1168327"/>
            <a:ext cx="1136339"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OUTPUT</a:t>
            </a:r>
          </a:p>
        </p:txBody>
      </p:sp>
      <p:pic>
        <p:nvPicPr>
          <p:cNvPr id="6" name="Picture 5">
            <a:extLst>
              <a:ext uri="{FF2B5EF4-FFF2-40B4-BE49-F238E27FC236}">
                <a16:creationId xmlns:a16="http://schemas.microsoft.com/office/drawing/2014/main" id="{5ED64551-F1AC-668C-E9E5-A446C77D6BA8}"/>
              </a:ext>
            </a:extLst>
          </p:cNvPr>
          <p:cNvPicPr>
            <a:picLocks noChangeAspect="1"/>
          </p:cNvPicPr>
          <p:nvPr/>
        </p:nvPicPr>
        <p:blipFill>
          <a:blip r:embed="rId2"/>
          <a:stretch>
            <a:fillRect/>
          </a:stretch>
        </p:blipFill>
        <p:spPr>
          <a:xfrm>
            <a:off x="496373" y="1674022"/>
            <a:ext cx="4398264" cy="5033755"/>
          </a:xfrm>
          <a:prstGeom prst="rect">
            <a:avLst/>
          </a:prstGeom>
        </p:spPr>
      </p:pic>
      <p:pic>
        <p:nvPicPr>
          <p:cNvPr id="8" name="Picture 7">
            <a:extLst>
              <a:ext uri="{FF2B5EF4-FFF2-40B4-BE49-F238E27FC236}">
                <a16:creationId xmlns:a16="http://schemas.microsoft.com/office/drawing/2014/main" id="{5A6F8715-9700-E793-9ED5-B77D81CA60F1}"/>
              </a:ext>
            </a:extLst>
          </p:cNvPr>
          <p:cNvPicPr>
            <a:picLocks noChangeAspect="1"/>
          </p:cNvPicPr>
          <p:nvPr/>
        </p:nvPicPr>
        <p:blipFill>
          <a:blip r:embed="rId3"/>
          <a:stretch>
            <a:fillRect/>
          </a:stretch>
        </p:blipFill>
        <p:spPr>
          <a:xfrm>
            <a:off x="7297364" y="1674023"/>
            <a:ext cx="4427431" cy="5033755"/>
          </a:xfrm>
          <a:prstGeom prst="rect">
            <a:avLst/>
          </a:prstGeom>
        </p:spPr>
      </p:pic>
    </p:spTree>
    <p:extLst>
      <p:ext uri="{BB962C8B-B14F-4D97-AF65-F5344CB8AC3E}">
        <p14:creationId xmlns:p14="http://schemas.microsoft.com/office/powerpoint/2010/main" val="32827884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A77E0B3D-1A88-339F-1E81-A301B950010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72FBF7B-FB14-5AF5-6AE7-06896A121AB9}"/>
              </a:ext>
            </a:extLst>
          </p:cNvPr>
          <p:cNvSpPr>
            <a:spLocks noGrp="1"/>
          </p:cNvSpPr>
          <p:nvPr>
            <p:ph type="ctrTitle"/>
          </p:nvPr>
        </p:nvSpPr>
        <p:spPr>
          <a:xfrm>
            <a:off x="1524000" y="150222"/>
            <a:ext cx="9144000" cy="930049"/>
          </a:xfrm>
        </p:spPr>
        <p:txBody>
          <a:bodyPr>
            <a:normAutofit/>
          </a:bodyPr>
          <a:lstStyle/>
          <a:p>
            <a:r>
              <a:rPr lang="en-IN" sz="3600" dirty="0">
                <a:latin typeface="Times New Roman" panose="02020603050405020304" pitchFamily="18" charset="0"/>
                <a:cs typeface="Times New Roman" panose="02020603050405020304" pitchFamily="18" charset="0"/>
              </a:rPr>
              <a:t>SCREENSHOTS</a:t>
            </a:r>
          </a:p>
        </p:txBody>
      </p:sp>
      <p:sp>
        <p:nvSpPr>
          <p:cNvPr id="3" name="TextBox 2">
            <a:extLst>
              <a:ext uri="{FF2B5EF4-FFF2-40B4-BE49-F238E27FC236}">
                <a16:creationId xmlns:a16="http://schemas.microsoft.com/office/drawing/2014/main" id="{0C6CA60A-A2CF-FF18-3FA1-88C188F33A24}"/>
              </a:ext>
            </a:extLst>
          </p:cNvPr>
          <p:cNvSpPr txBox="1"/>
          <p:nvPr/>
        </p:nvSpPr>
        <p:spPr>
          <a:xfrm>
            <a:off x="5527830" y="1168327"/>
            <a:ext cx="1136339"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OUTPUT</a:t>
            </a:r>
          </a:p>
        </p:txBody>
      </p:sp>
      <p:pic>
        <p:nvPicPr>
          <p:cNvPr id="5" name="Picture 4">
            <a:extLst>
              <a:ext uri="{FF2B5EF4-FFF2-40B4-BE49-F238E27FC236}">
                <a16:creationId xmlns:a16="http://schemas.microsoft.com/office/drawing/2014/main" id="{663E71D8-172B-8CD0-E699-C31F9F46FB34}"/>
              </a:ext>
            </a:extLst>
          </p:cNvPr>
          <p:cNvPicPr>
            <a:picLocks noChangeAspect="1"/>
          </p:cNvPicPr>
          <p:nvPr/>
        </p:nvPicPr>
        <p:blipFill>
          <a:blip r:embed="rId2"/>
          <a:stretch>
            <a:fillRect/>
          </a:stretch>
        </p:blipFill>
        <p:spPr>
          <a:xfrm>
            <a:off x="216833" y="1683436"/>
            <a:ext cx="5628795" cy="5014927"/>
          </a:xfrm>
          <a:prstGeom prst="rect">
            <a:avLst/>
          </a:prstGeom>
        </p:spPr>
      </p:pic>
      <p:pic>
        <p:nvPicPr>
          <p:cNvPr id="9" name="Picture 8">
            <a:extLst>
              <a:ext uri="{FF2B5EF4-FFF2-40B4-BE49-F238E27FC236}">
                <a16:creationId xmlns:a16="http://schemas.microsoft.com/office/drawing/2014/main" id="{D428CA9F-7FB0-763C-9357-3D358841C9B4}"/>
              </a:ext>
            </a:extLst>
          </p:cNvPr>
          <p:cNvPicPr>
            <a:picLocks noChangeAspect="1"/>
          </p:cNvPicPr>
          <p:nvPr/>
        </p:nvPicPr>
        <p:blipFill>
          <a:blip r:embed="rId3"/>
          <a:stretch>
            <a:fillRect/>
          </a:stretch>
        </p:blipFill>
        <p:spPr>
          <a:xfrm>
            <a:off x="7141453" y="1578328"/>
            <a:ext cx="4649089" cy="5225142"/>
          </a:xfrm>
          <a:prstGeom prst="rect">
            <a:avLst/>
          </a:prstGeom>
        </p:spPr>
      </p:pic>
    </p:spTree>
    <p:extLst>
      <p:ext uri="{BB962C8B-B14F-4D97-AF65-F5344CB8AC3E}">
        <p14:creationId xmlns:p14="http://schemas.microsoft.com/office/powerpoint/2010/main" val="28427477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295085AC-5F8B-ACA1-20AB-B0A5597CBC4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2266058-41F6-9586-A9F9-B1567EBA7647}"/>
              </a:ext>
            </a:extLst>
          </p:cNvPr>
          <p:cNvSpPr>
            <a:spLocks noGrp="1"/>
          </p:cNvSpPr>
          <p:nvPr>
            <p:ph type="ctrTitle"/>
          </p:nvPr>
        </p:nvSpPr>
        <p:spPr>
          <a:xfrm>
            <a:off x="1524000" y="150222"/>
            <a:ext cx="9144000" cy="930049"/>
          </a:xfrm>
        </p:spPr>
        <p:txBody>
          <a:bodyPr>
            <a:normAutofit/>
          </a:bodyPr>
          <a:lstStyle/>
          <a:p>
            <a:r>
              <a:rPr lang="en-IN" sz="3600" dirty="0">
                <a:latin typeface="Times New Roman" panose="02020603050405020304" pitchFamily="18" charset="0"/>
                <a:cs typeface="Times New Roman" panose="02020603050405020304" pitchFamily="18" charset="0"/>
              </a:rPr>
              <a:t>SCREENSHOTS</a:t>
            </a:r>
          </a:p>
        </p:txBody>
      </p:sp>
      <p:sp>
        <p:nvSpPr>
          <p:cNvPr id="3" name="TextBox 2">
            <a:extLst>
              <a:ext uri="{FF2B5EF4-FFF2-40B4-BE49-F238E27FC236}">
                <a16:creationId xmlns:a16="http://schemas.microsoft.com/office/drawing/2014/main" id="{EA6B2640-A402-7D25-1809-CF85517207E8}"/>
              </a:ext>
            </a:extLst>
          </p:cNvPr>
          <p:cNvSpPr txBox="1"/>
          <p:nvPr/>
        </p:nvSpPr>
        <p:spPr>
          <a:xfrm>
            <a:off x="5527830" y="1168327"/>
            <a:ext cx="1136339"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OUTPUT</a:t>
            </a:r>
          </a:p>
        </p:txBody>
      </p:sp>
      <p:pic>
        <p:nvPicPr>
          <p:cNvPr id="5" name="Picture 4">
            <a:extLst>
              <a:ext uri="{FF2B5EF4-FFF2-40B4-BE49-F238E27FC236}">
                <a16:creationId xmlns:a16="http://schemas.microsoft.com/office/drawing/2014/main" id="{3EF740F2-0D2C-279F-CF88-D71861456E5A}"/>
              </a:ext>
            </a:extLst>
          </p:cNvPr>
          <p:cNvPicPr>
            <a:picLocks noChangeAspect="1"/>
          </p:cNvPicPr>
          <p:nvPr/>
        </p:nvPicPr>
        <p:blipFill>
          <a:blip r:embed="rId2"/>
          <a:stretch>
            <a:fillRect/>
          </a:stretch>
        </p:blipFill>
        <p:spPr>
          <a:xfrm>
            <a:off x="3313009" y="1842818"/>
            <a:ext cx="5565982" cy="5015182"/>
          </a:xfrm>
          <a:prstGeom prst="rect">
            <a:avLst/>
          </a:prstGeom>
        </p:spPr>
      </p:pic>
    </p:spTree>
    <p:extLst>
      <p:ext uri="{BB962C8B-B14F-4D97-AF65-F5344CB8AC3E}">
        <p14:creationId xmlns:p14="http://schemas.microsoft.com/office/powerpoint/2010/main" val="41472173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BC1B1FD5-93BE-0863-BA91-E9348D52BC4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3A6800A-985A-CF28-B5D4-5A723429325E}"/>
              </a:ext>
            </a:extLst>
          </p:cNvPr>
          <p:cNvSpPr>
            <a:spLocks noGrp="1"/>
          </p:cNvSpPr>
          <p:nvPr>
            <p:ph type="ctrTitle"/>
          </p:nvPr>
        </p:nvSpPr>
        <p:spPr>
          <a:xfrm>
            <a:off x="1524000" y="104502"/>
            <a:ext cx="9144000" cy="930049"/>
          </a:xfrm>
        </p:spPr>
        <p:txBody>
          <a:bodyPr>
            <a:normAutofit/>
          </a:bodyPr>
          <a:lstStyle/>
          <a:p>
            <a:r>
              <a:rPr lang="en-IN" sz="3600" dirty="0">
                <a:latin typeface="Times New Roman" panose="02020603050405020304" pitchFamily="18" charset="0"/>
                <a:cs typeface="Times New Roman" panose="02020603050405020304" pitchFamily="18" charset="0"/>
              </a:rPr>
              <a:t>REPORTS</a:t>
            </a:r>
          </a:p>
        </p:txBody>
      </p:sp>
      <p:sp>
        <p:nvSpPr>
          <p:cNvPr id="2" name="TextBox 1">
            <a:extLst>
              <a:ext uri="{FF2B5EF4-FFF2-40B4-BE49-F238E27FC236}">
                <a16:creationId xmlns:a16="http://schemas.microsoft.com/office/drawing/2014/main" id="{5C02F4E3-822D-4491-8904-1CC9DF28639A}"/>
              </a:ext>
            </a:extLst>
          </p:cNvPr>
          <p:cNvSpPr txBox="1"/>
          <p:nvPr/>
        </p:nvSpPr>
        <p:spPr>
          <a:xfrm>
            <a:off x="1048512" y="1143000"/>
            <a:ext cx="10094976" cy="424731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The Cinema Booking System provides basic reporting capabilities to help track and manage system data effectively:</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1. Movie Reports: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List of all movies currently available</a:t>
            </a:r>
          </a:p>
          <a:p>
            <a:r>
              <a:rPr lang="en-US" dirty="0">
                <a:latin typeface="Times New Roman" panose="02020603050405020304" pitchFamily="18" charset="0"/>
                <a:cs typeface="Times New Roman" panose="02020603050405020304" pitchFamily="18" charset="0"/>
              </a:rPr>
              <a:t>Details include: </a:t>
            </a:r>
            <a:r>
              <a:rPr lang="en-US" dirty="0" err="1">
                <a:latin typeface="Times New Roman" panose="02020603050405020304" pitchFamily="18" charset="0"/>
                <a:cs typeface="Times New Roman" panose="02020603050405020304" pitchFamily="18" charset="0"/>
              </a:rPr>
              <a:t>movieId</a:t>
            </a:r>
            <a:r>
              <a:rPr lang="en-US" dirty="0">
                <a:latin typeface="Times New Roman" panose="02020603050405020304" pitchFamily="18" charset="0"/>
                <a:cs typeface="Times New Roman" panose="02020603050405020304" pitchFamily="18" charset="0"/>
              </a:rPr>
              <a:t>, title, genre, duration, language</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2. Showtime Reports: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Overview of scheduled showtimes</a:t>
            </a:r>
          </a:p>
          <a:p>
            <a:r>
              <a:rPr lang="en-US" dirty="0">
                <a:latin typeface="Times New Roman" panose="02020603050405020304" pitchFamily="18" charset="0"/>
                <a:cs typeface="Times New Roman" panose="02020603050405020304" pitchFamily="18" charset="0"/>
              </a:rPr>
              <a:t>Includes: </a:t>
            </a:r>
            <a:r>
              <a:rPr lang="en-US" dirty="0" err="1">
                <a:latin typeface="Times New Roman" panose="02020603050405020304" pitchFamily="18" charset="0"/>
                <a:cs typeface="Times New Roman" panose="02020603050405020304" pitchFamily="18" charset="0"/>
              </a:rPr>
              <a:t>showId</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movieId</a:t>
            </a:r>
            <a:r>
              <a:rPr lang="en-US" dirty="0">
                <a:latin typeface="Times New Roman" panose="02020603050405020304" pitchFamily="18" charset="0"/>
                <a:cs typeface="Times New Roman" panose="02020603050405020304" pitchFamily="18" charset="0"/>
              </a:rPr>
              <a:t>, date, time</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3. Customer Reports: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Complete customer list with contact details</a:t>
            </a:r>
          </a:p>
          <a:p>
            <a:r>
              <a:rPr lang="en-US" dirty="0">
                <a:latin typeface="Times New Roman" panose="02020603050405020304" pitchFamily="18" charset="0"/>
                <a:cs typeface="Times New Roman" panose="02020603050405020304" pitchFamily="18" charset="0"/>
              </a:rPr>
              <a:t>Includes: </a:t>
            </a:r>
            <a:r>
              <a:rPr lang="en-US" dirty="0" err="1">
                <a:latin typeface="Times New Roman" panose="02020603050405020304" pitchFamily="18" charset="0"/>
                <a:cs typeface="Times New Roman" panose="02020603050405020304" pitchFamily="18" charset="0"/>
              </a:rPr>
              <a:t>customerId</a:t>
            </a:r>
            <a:r>
              <a:rPr lang="en-US" dirty="0">
                <a:latin typeface="Times New Roman" panose="02020603050405020304" pitchFamily="18" charset="0"/>
                <a:cs typeface="Times New Roman" panose="02020603050405020304" pitchFamily="18" charset="0"/>
              </a:rPr>
              <a:t>, name, email, phone</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70276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9324ACDB-6CB3-B8FB-2529-AAF0FF4C6EF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04FB53D-F0C9-B30A-7ABA-DB58B6CDC56C}"/>
              </a:ext>
            </a:extLst>
          </p:cNvPr>
          <p:cNvSpPr>
            <a:spLocks noGrp="1"/>
          </p:cNvSpPr>
          <p:nvPr>
            <p:ph type="ctrTitle"/>
          </p:nvPr>
        </p:nvSpPr>
        <p:spPr>
          <a:xfrm>
            <a:off x="1524000" y="104502"/>
            <a:ext cx="9144000" cy="930049"/>
          </a:xfrm>
        </p:spPr>
        <p:txBody>
          <a:bodyPr>
            <a:normAutofit/>
          </a:bodyPr>
          <a:lstStyle/>
          <a:p>
            <a:r>
              <a:rPr lang="en-IN" sz="3600" dirty="0">
                <a:latin typeface="Times New Roman" panose="02020603050405020304" pitchFamily="18" charset="0"/>
                <a:cs typeface="Times New Roman" panose="02020603050405020304" pitchFamily="18" charset="0"/>
              </a:rPr>
              <a:t>REPORTS</a:t>
            </a:r>
          </a:p>
        </p:txBody>
      </p:sp>
      <p:sp>
        <p:nvSpPr>
          <p:cNvPr id="2" name="TextBox 1">
            <a:extLst>
              <a:ext uri="{FF2B5EF4-FFF2-40B4-BE49-F238E27FC236}">
                <a16:creationId xmlns:a16="http://schemas.microsoft.com/office/drawing/2014/main" id="{062A7FB6-47BF-D3AC-A260-7078484AA923}"/>
              </a:ext>
            </a:extLst>
          </p:cNvPr>
          <p:cNvSpPr txBox="1"/>
          <p:nvPr/>
        </p:nvSpPr>
        <p:spPr>
          <a:xfrm>
            <a:off x="1048512" y="1143000"/>
            <a:ext cx="10094976" cy="2031325"/>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4. Booking Reports: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Summary of all ticket bookings</a:t>
            </a:r>
          </a:p>
          <a:p>
            <a:r>
              <a:rPr lang="en-US" dirty="0">
                <a:latin typeface="Times New Roman" panose="02020603050405020304" pitchFamily="18" charset="0"/>
                <a:cs typeface="Times New Roman" panose="02020603050405020304" pitchFamily="18" charset="0"/>
              </a:rPr>
              <a:t>Includes: </a:t>
            </a:r>
            <a:r>
              <a:rPr lang="en-US" dirty="0" err="1">
                <a:latin typeface="Times New Roman" panose="02020603050405020304" pitchFamily="18" charset="0"/>
                <a:cs typeface="Times New Roman" panose="02020603050405020304" pitchFamily="18" charset="0"/>
              </a:rPr>
              <a:t>ticketId</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customerId</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showId</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numberOfSeats</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5. Booking History Reports: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View past bookings made by each customer</a:t>
            </a:r>
          </a:p>
          <a:p>
            <a:r>
              <a:rPr lang="en-US" dirty="0">
                <a:latin typeface="Times New Roman" panose="02020603050405020304" pitchFamily="18" charset="0"/>
                <a:cs typeface="Times New Roman" panose="02020603050405020304" pitchFamily="18" charset="0"/>
              </a:rPr>
              <a:t>Useful for tracking customer activity and preferences</a:t>
            </a:r>
          </a:p>
        </p:txBody>
      </p:sp>
    </p:spTree>
    <p:extLst>
      <p:ext uri="{BB962C8B-B14F-4D97-AF65-F5344CB8AC3E}">
        <p14:creationId xmlns:p14="http://schemas.microsoft.com/office/powerpoint/2010/main" val="6198599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0C546BD8-7201-3A78-5FE2-BB5B8239D73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A2AFD1E-0121-0B10-7F89-FF516BB344F7}"/>
              </a:ext>
            </a:extLst>
          </p:cNvPr>
          <p:cNvSpPr>
            <a:spLocks noGrp="1"/>
          </p:cNvSpPr>
          <p:nvPr>
            <p:ph type="ctrTitle"/>
          </p:nvPr>
        </p:nvSpPr>
        <p:spPr>
          <a:xfrm>
            <a:off x="1524000" y="141078"/>
            <a:ext cx="9144000" cy="930049"/>
          </a:xfrm>
        </p:spPr>
        <p:txBody>
          <a:bodyPr>
            <a:normAutofit/>
          </a:bodyPr>
          <a:lstStyle/>
          <a:p>
            <a:r>
              <a:rPr lang="en-IN" sz="3600" dirty="0">
                <a:latin typeface="Times New Roman" panose="02020603050405020304" pitchFamily="18" charset="0"/>
                <a:cs typeface="Times New Roman" panose="02020603050405020304" pitchFamily="18" charset="0"/>
              </a:rPr>
              <a:t>CONCLUSION</a:t>
            </a:r>
          </a:p>
        </p:txBody>
      </p:sp>
      <p:sp>
        <p:nvSpPr>
          <p:cNvPr id="2" name="TextBox 1">
            <a:extLst>
              <a:ext uri="{FF2B5EF4-FFF2-40B4-BE49-F238E27FC236}">
                <a16:creationId xmlns:a16="http://schemas.microsoft.com/office/drawing/2014/main" id="{693C3C80-1384-5CC7-FD0D-2A4D4E645D19}"/>
              </a:ext>
            </a:extLst>
          </p:cNvPr>
          <p:cNvSpPr txBox="1"/>
          <p:nvPr/>
        </p:nvSpPr>
        <p:spPr>
          <a:xfrm>
            <a:off x="1048512" y="1636776"/>
            <a:ext cx="10094976" cy="313932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The Online Movie Ticket Booking System successfully delivers a fully integrated platform, effectively linking Movie Management, Showtime Scheduling, Customer Registration, and Ticket Booking. By establishing robust data relationships (e.g., </a:t>
            </a:r>
            <a:r>
              <a:rPr lang="en-US" dirty="0" err="1">
                <a:latin typeface="Times New Roman" panose="02020603050405020304" pitchFamily="18" charset="0"/>
                <a:cs typeface="Times New Roman" panose="02020603050405020304" pitchFamily="18" charset="0"/>
              </a:rPr>
              <a:t>movieId</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showId</a:t>
            </a:r>
            <a:r>
              <a:rPr lang="en-US" dirty="0">
                <a:latin typeface="Times New Roman" panose="02020603050405020304" pitchFamily="18" charset="0"/>
                <a:cs typeface="Times New Roman" panose="02020603050405020304" pitchFamily="18" charset="0"/>
              </a:rPr>
              <a:t>), the system streamlines complex administrative operations while simultaneously providing distinct, intuitive interfaces for both Admins and Customers. This design ensures enhanced security and a simplified ticket purchasing process, proving the system's viability for efficient and accurate transaction management.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Future Scope</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Seat Selection:</a:t>
            </a:r>
          </a:p>
          <a:p>
            <a:r>
              <a:rPr lang="en-US" dirty="0">
                <a:latin typeface="Times New Roman" panose="02020603050405020304" pitchFamily="18" charset="0"/>
                <a:cs typeface="Times New Roman" panose="02020603050405020304" pitchFamily="18" charset="0"/>
              </a:rPr>
              <a:t>Introduce a graphical interface for specific seat selection (e.g., A1, B5) instead of just the number of seats.</a:t>
            </a:r>
          </a:p>
        </p:txBody>
      </p:sp>
    </p:spTree>
    <p:extLst>
      <p:ext uri="{BB962C8B-B14F-4D97-AF65-F5344CB8AC3E}">
        <p14:creationId xmlns:p14="http://schemas.microsoft.com/office/powerpoint/2010/main" val="4098081148"/>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8</TotalTime>
  <Words>1354</Words>
  <Application>Microsoft Office PowerPoint</Application>
  <PresentationFormat>Widescreen</PresentationFormat>
  <Paragraphs>189</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Calibri Light</vt:lpstr>
      <vt:lpstr>Times New Roman</vt:lpstr>
      <vt:lpstr>Office 2013 - 2022 Theme</vt:lpstr>
      <vt:lpstr>MOVIE TICKET BOOKING MANAGEMENT SYSTEM</vt:lpstr>
      <vt:lpstr>INTRODUCTION</vt:lpstr>
      <vt:lpstr>OBJECTIVE</vt:lpstr>
      <vt:lpstr>ABOUT THE PROJECT</vt:lpstr>
      <vt:lpstr>ABOUT THE PROJECT</vt:lpstr>
      <vt:lpstr>PROJECT DETAILS</vt:lpstr>
      <vt:lpstr>PROJECT DETAILS</vt:lpstr>
      <vt:lpstr>PROJECT DETAILS</vt:lpstr>
      <vt:lpstr>MAJOR MODULES</vt:lpstr>
      <vt:lpstr>ROLES</vt:lpstr>
      <vt:lpstr>DURATION OF THE PROJECT</vt:lpstr>
      <vt:lpstr>APPROACH</vt:lpstr>
      <vt:lpstr>APPROACH</vt:lpstr>
      <vt:lpstr>SCREENSHOTS</vt:lpstr>
      <vt:lpstr>SCREENSHOTS</vt:lpstr>
      <vt:lpstr>SCREENSHOTS</vt:lpstr>
      <vt:lpstr>SCREENSHOTS</vt:lpstr>
      <vt:lpstr>SCREENSHOTS</vt:lpstr>
      <vt:lpstr>SCREENSHOTS</vt:lpstr>
      <vt:lpstr>SCREENSHOTS</vt:lpstr>
      <vt:lpstr>SCREENSHOTS</vt:lpstr>
      <vt:lpstr>SCREENSHOTS</vt:lpstr>
      <vt:lpstr>SCREENSHOTS</vt:lpstr>
      <vt:lpstr>SCREENSHOTS</vt:lpstr>
      <vt:lpstr>REPORTS</vt:lpstr>
      <vt:lpstr>REPORTS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Abhijith Suresh(UST-HealthProof,IN)</dc:creator>
  <cp:lastModifiedBy>Abhijith Suresh(UST-HealthProof,IN)</cp:lastModifiedBy>
  <cp:revision>2</cp:revision>
  <dcterms:created xsi:type="dcterms:W3CDTF">2025-11-07T06:49:54Z</dcterms:created>
  <dcterms:modified xsi:type="dcterms:W3CDTF">2025-11-07T10:10:23Z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5ffddfa-74ad-4c1f-9757-a38a11902f1c_Enabled">
    <vt:lpwstr>true</vt:lpwstr>
  </property>
  <property fmtid="{D5CDD505-2E9C-101B-9397-08002B2CF9AE}" pid="3" name="MSIP_Label_15ffddfa-74ad-4c1f-9757-a38a11902f1c_SetDate">
    <vt:lpwstr>2025-11-07T10:01:57Z</vt:lpwstr>
  </property>
  <property fmtid="{D5CDD505-2E9C-101B-9397-08002B2CF9AE}" pid="4" name="MSIP_Label_15ffddfa-74ad-4c1f-9757-a38a11902f1c_Method">
    <vt:lpwstr>Standard</vt:lpwstr>
  </property>
  <property fmtid="{D5CDD505-2E9C-101B-9397-08002B2CF9AE}" pid="5" name="MSIP_Label_15ffddfa-74ad-4c1f-9757-a38a11902f1c_Name">
    <vt:lpwstr>UST Internal</vt:lpwstr>
  </property>
  <property fmtid="{D5CDD505-2E9C-101B-9397-08002B2CF9AE}" pid="6" name="MSIP_Label_15ffddfa-74ad-4c1f-9757-a38a11902f1c_SiteId">
    <vt:lpwstr>a4431f4b-c207-4733-9530-34c08a9b2b8d</vt:lpwstr>
  </property>
  <property fmtid="{D5CDD505-2E9C-101B-9397-08002B2CF9AE}" pid="7" name="MSIP_Label_15ffddfa-74ad-4c1f-9757-a38a11902f1c_ActionId">
    <vt:lpwstr>dda22642-0b02-4c78-bcf2-49856ea90005</vt:lpwstr>
  </property>
  <property fmtid="{D5CDD505-2E9C-101B-9397-08002B2CF9AE}" pid="8" name="MSIP_Label_15ffddfa-74ad-4c1f-9757-a38a11902f1c_ContentBits">
    <vt:lpwstr>0</vt:lpwstr>
  </property>
  <property fmtid="{D5CDD505-2E9C-101B-9397-08002B2CF9AE}" pid="9" name="MSIP_Label_15ffddfa-74ad-4c1f-9757-a38a11902f1c_Tag">
    <vt:lpwstr>10, 3, 0, 1</vt:lpwstr>
  </property>
</Properties>
</file>